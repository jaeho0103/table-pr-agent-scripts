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9144000"/>
  <p:embeddedFontLst>
    <p:embeddedFont>
      <p:font typeface="Montserrat SemiBold"/>
      <p:regular r:id="rId26"/>
      <p:bold r:id="rId27"/>
      <p:italic r:id="rId28"/>
      <p:boldItalic r:id="rId29"/>
    </p:embeddedFont>
    <p:embeddedFont>
      <p:font typeface="Garamond"/>
      <p:regular r:id="rId30"/>
      <p:bold r:id="rId31"/>
      <p:italic r:id="rId32"/>
      <p:boldItalic r:id="rId33"/>
    </p:embeddedFont>
    <p:embeddedFont>
      <p:font typeface="Montserrat ExtraBold"/>
      <p:bold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h/Xz6kpQCefxHMMMLIlW15AhDA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3C3C6E-FA49-44BE-9389-992C9AAB32B4}">
  <a:tblStyle styleId="{2A3C3C6E-FA49-44BE-9389-992C9AAB32B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SemiBold-regular.fntdata"/><Relationship Id="rId25" Type="http://schemas.openxmlformats.org/officeDocument/2006/relationships/slide" Target="slides/slide20.xml"/><Relationship Id="rId28" Type="http://schemas.openxmlformats.org/officeDocument/2006/relationships/font" Target="fonts/MontserratSemiBold-italic.fntdata"/><Relationship Id="rId27" Type="http://schemas.openxmlformats.org/officeDocument/2006/relationships/font" Target="fonts/Montserrat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Garamond-bold.fntdata"/><Relationship Id="rId30" Type="http://schemas.openxmlformats.org/officeDocument/2006/relationships/font" Target="fonts/Garamond-regular.fntdata"/><Relationship Id="rId11" Type="http://schemas.openxmlformats.org/officeDocument/2006/relationships/slide" Target="slides/slide6.xml"/><Relationship Id="rId33" Type="http://schemas.openxmlformats.org/officeDocument/2006/relationships/font" Target="fonts/Garamond-boldItalic.fntdata"/><Relationship Id="rId10" Type="http://schemas.openxmlformats.org/officeDocument/2006/relationships/slide" Target="slides/slide5.xml"/><Relationship Id="rId32" Type="http://schemas.openxmlformats.org/officeDocument/2006/relationships/font" Target="fonts/Garamond-italic.fntdata"/><Relationship Id="rId13" Type="http://schemas.openxmlformats.org/officeDocument/2006/relationships/slide" Target="slides/slide8.xml"/><Relationship Id="rId35" Type="http://schemas.openxmlformats.org/officeDocument/2006/relationships/font" Target="fonts/MontserratExtraBold-boldItalic.fntdata"/><Relationship Id="rId12" Type="http://schemas.openxmlformats.org/officeDocument/2006/relationships/slide" Target="slides/slide7.xml"/><Relationship Id="rId34" Type="http://schemas.openxmlformats.org/officeDocument/2006/relationships/font" Target="fonts/MontserratExtraBold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0bff82d73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c0bff82d73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bafa42a11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abafa42a11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bbcaa5d1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abbcaa5d1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bbcaa5d1e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abbcaa5d1e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ctrTitle"/>
          </p:nvPr>
        </p:nvSpPr>
        <p:spPr>
          <a:xfrm>
            <a:off x="914400" y="1122363"/>
            <a:ext cx="103632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99"/>
              <a:buFont typeface="Calibri"/>
              <a:buNone/>
              <a:defRPr sz="5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99"/>
              <a:buFont typeface="Calibri"/>
              <a:buNone/>
              <a:defRPr sz="5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839790" y="1681164"/>
            <a:ext cx="5157786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839790" y="2505076"/>
            <a:ext cx="5157786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6172201" y="1681164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6172201" y="2505076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839787" y="457200"/>
            <a:ext cx="393223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839787" y="457200"/>
            <a:ext cx="393223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713343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1799432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Google Shape;88;p1"/>
          <p:cNvGraphicFramePr/>
          <p:nvPr/>
        </p:nvGraphicFramePr>
        <p:xfrm>
          <a:off x="1920857" y="9483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{2A3C3C6E-FA49-44BE-9389-992C9AAB32B4}</a:tableStyleId>
              </a:tblPr>
              <a:tblGrid>
                <a:gridCol w="1858675"/>
                <a:gridCol w="431100"/>
                <a:gridCol w="1050350"/>
                <a:gridCol w="1050350"/>
                <a:gridCol w="1319950"/>
                <a:gridCol w="1319950"/>
                <a:gridCol w="1319950"/>
              </a:tblGrid>
              <a:tr h="524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Group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no of Players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Reward %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Group Reward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Each Player Gets</a:t>
                      </a:r>
                      <a:br>
                        <a:rPr lang="en-US" sz="800" u="none" cap="none" strike="noStrike"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</a:br>
                      <a:r>
                        <a:rPr lang="en-US" sz="800" u="none" cap="none" strike="noStrike"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(Unstaked Player)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Each Player Gets</a:t>
                      </a:r>
                      <a:br>
                        <a:rPr lang="en-US" sz="800" u="none" cap="none" strike="noStrike"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</a:br>
                      <a:r>
                        <a:rPr lang="en-US" sz="800" u="none" cap="none" strike="noStrike"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(Stake lvl 2 Player)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Each Player Gets</a:t>
                      </a:r>
                      <a:br>
                        <a:rPr lang="en-US" sz="800" u="none" cap="none" strike="noStrike"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</a:br>
                      <a:r>
                        <a:rPr lang="en-US" sz="800" u="none" cap="none" strike="noStrike"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(Staked lvl 3 Player)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A9DB"/>
                    </a:solidFill>
                  </a:tcPr>
                </a:tc>
              </a:tr>
              <a:tr h="286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Rank 1000-501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500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40,000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40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80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120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A9DB"/>
                    </a:solidFill>
                  </a:tcPr>
                </a:tc>
              </a:tr>
              <a:tr h="286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Rank 500-251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250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15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30,000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60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120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180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A9DB"/>
                    </a:solidFill>
                  </a:tcPr>
                </a:tc>
              </a:tr>
              <a:tr h="286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Rank 250-176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75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20,000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133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267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400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A9DB"/>
                    </a:solidFill>
                  </a:tcPr>
                </a:tc>
              </a:tr>
              <a:tr h="286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Rank 175-101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75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12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24,000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160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320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480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A9DB"/>
                    </a:solidFill>
                  </a:tcPr>
                </a:tc>
              </a:tr>
              <a:tr h="286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Rank 100-51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50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11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22,000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220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440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660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A9DB"/>
                    </a:solidFill>
                  </a:tcPr>
                </a:tc>
              </a:tr>
              <a:tr h="286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Rank 50-31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7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14,000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350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700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1,050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A9DB"/>
                    </a:solidFill>
                  </a:tcPr>
                </a:tc>
              </a:tr>
              <a:tr h="286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Rank 30-18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13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6.5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13,000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500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1,000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1,500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A9DB"/>
                    </a:solidFill>
                  </a:tcPr>
                </a:tc>
              </a:tr>
              <a:tr h="286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Rank 17-11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7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5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10,000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714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1,429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2,143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A9DB"/>
                    </a:solidFill>
                  </a:tcPr>
                </a:tc>
              </a:tr>
              <a:tr h="286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Rank 10-6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5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5.5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11,000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1,100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2,200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3,300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A9DB"/>
                    </a:solidFill>
                  </a:tcPr>
                </a:tc>
              </a:tr>
              <a:tr h="286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Rank 5-1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5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8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16,000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1,600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3,200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4,800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A9DB"/>
                    </a:solidFill>
                  </a:tcPr>
                </a:tc>
              </a:tr>
              <a:tr h="326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Sum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1,000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200,000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9" name="Google Shape;89;p1"/>
          <p:cNvSpPr txBox="1"/>
          <p:nvPr/>
        </p:nvSpPr>
        <p:spPr>
          <a:xfrm>
            <a:off x="1821471" y="581054"/>
            <a:ext cx="2674130" cy="2840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46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[ Arena Rewards Distribution ]</a:t>
            </a:r>
            <a:endParaRPr b="0" i="0" sz="1246" u="none" cap="none" strike="noStrik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aphicFrame>
        <p:nvGraphicFramePr>
          <p:cNvPr id="90" name="Google Shape;90;p1"/>
          <p:cNvGraphicFramePr/>
          <p:nvPr/>
        </p:nvGraphicFramePr>
        <p:xfrm>
          <a:off x="1923525" y="53740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{2A3C3C6E-FA49-44BE-9389-992C9AAB32B4}</a:tableStyleId>
              </a:tblPr>
              <a:tblGrid>
                <a:gridCol w="1190575"/>
                <a:gridCol w="1190575"/>
                <a:gridCol w="1190575"/>
              </a:tblGrid>
              <a:tr h="246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Medal Pool</a:t>
                      </a:r>
                      <a:endParaRPr/>
                    </a:p>
                  </a:txBody>
                  <a:tcPr marT="13200" marB="13200" marR="19775" marL="19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57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57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Average DAU</a:t>
                      </a:r>
                      <a:endParaRPr/>
                    </a:p>
                  </a:txBody>
                  <a:tcPr marT="13200" marB="13200" marR="19775" marL="19775" anchor="ctr">
                    <a:lnL cap="flat" cmpd="sng" w="9525">
                      <a:solidFill>
                        <a:srgbClr val="757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57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57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Per Player</a:t>
                      </a:r>
                      <a:br>
                        <a:rPr lang="en-US" sz="700" u="none" cap="none" strike="noStrike">
                          <a:solidFill>
                            <a:schemeClr val="dk1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</a:b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(Unstaked)</a:t>
                      </a:r>
                      <a:endParaRPr/>
                    </a:p>
                  </a:txBody>
                  <a:tcPr marT="13200" marB="13200" marR="19775" marL="19775" anchor="ctr">
                    <a:lnL cap="flat" cmpd="sng" w="9525">
                      <a:solidFill>
                        <a:srgbClr val="757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57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E2F3"/>
                    </a:solidFill>
                  </a:tcPr>
                </a:tc>
              </a:tr>
              <a:tr h="246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50,000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57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57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1,500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757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57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57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33.3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757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57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F38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1" name="Google Shape;91;p1"/>
          <p:cNvSpPr txBox="1"/>
          <p:nvPr/>
        </p:nvSpPr>
        <p:spPr>
          <a:xfrm>
            <a:off x="1821471" y="5000330"/>
            <a:ext cx="2773516" cy="262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8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[ Medal NCG Rewards Distribution ]</a:t>
            </a:r>
            <a:endParaRPr b="0" i="0" sz="1108" u="none" cap="none" strike="noStrik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5504" y="1837712"/>
            <a:ext cx="8480271" cy="5346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type="title"/>
          </p:nvPr>
        </p:nvSpPr>
        <p:spPr>
          <a:xfrm>
            <a:off x="838200" y="365127"/>
            <a:ext cx="10515600" cy="5093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alibri"/>
              <a:buNone/>
            </a:pPr>
            <a:r>
              <a:rPr lang="en-US" sz="8000"/>
              <a:t>Live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/>
          <p:nvPr/>
        </p:nvSpPr>
        <p:spPr>
          <a:xfrm>
            <a:off x="0" y="0"/>
            <a:ext cx="12192002" cy="6858000"/>
          </a:xfrm>
          <a:prstGeom prst="rect">
            <a:avLst/>
          </a:prstGeom>
          <a:solidFill>
            <a:srgbClr val="A8D08C">
              <a:alpha val="1176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ebula" id="103" name="Google Shape;103;p3"/>
          <p:cNvPicPr preferRelativeResize="0"/>
          <p:nvPr/>
        </p:nvPicPr>
        <p:blipFill rotWithShape="1">
          <a:blip r:embed="rId3">
            <a:alphaModFix/>
          </a:blip>
          <a:srcRect b="2757" l="9813" r="8082" t="1227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/>
          <p:nvPr/>
        </p:nvSpPr>
        <p:spPr>
          <a:xfrm>
            <a:off x="0" y="0"/>
            <a:ext cx="12192002" cy="6858000"/>
          </a:xfrm>
          <a:prstGeom prst="rect">
            <a:avLst/>
          </a:prstGeom>
          <a:solidFill>
            <a:srgbClr val="321E28">
              <a:alpha val="8078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3"/>
          <p:cNvPicPr preferRelativeResize="0"/>
          <p:nvPr/>
        </p:nvPicPr>
        <p:blipFill rotWithShape="1">
          <a:blip r:embed="rId4">
            <a:alphaModFix/>
          </a:blip>
          <a:srcRect b="5555" l="41813" r="10750" t="6444"/>
          <a:stretch/>
        </p:blipFill>
        <p:spPr>
          <a:xfrm rot="10800000">
            <a:off x="-155576" y="-36398"/>
            <a:ext cx="12560301" cy="7032396"/>
          </a:xfrm>
          <a:prstGeom prst="rect">
            <a:avLst/>
          </a:prstGeom>
          <a:noFill/>
          <a:ln>
            <a:noFill/>
          </a:ln>
          <a:effectLst>
            <a:outerShdw blurRad="50800" sx="101000" rotWithShape="0" algn="t" dir="5400000" dist="38100" sy="101000">
              <a:srgbClr val="000000">
                <a:alpha val="47843"/>
              </a:srgbClr>
            </a:outerShdw>
          </a:effectLst>
        </p:spPr>
      </p:pic>
      <p:pic>
        <p:nvPicPr>
          <p:cNvPr id="106" name="Google Shape;106;p3"/>
          <p:cNvPicPr preferRelativeResize="0"/>
          <p:nvPr/>
        </p:nvPicPr>
        <p:blipFill rotWithShape="1">
          <a:blip r:embed="rId5">
            <a:alphaModFix/>
          </a:blip>
          <a:srcRect b="6948" l="78938" r="11250" t="73830"/>
          <a:stretch/>
        </p:blipFill>
        <p:spPr>
          <a:xfrm>
            <a:off x="10608870" y="5266758"/>
            <a:ext cx="1375560" cy="1515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3"/>
          <p:cNvPicPr preferRelativeResize="0"/>
          <p:nvPr/>
        </p:nvPicPr>
        <p:blipFill rotWithShape="1">
          <a:blip r:embed="rId5">
            <a:alphaModFix/>
          </a:blip>
          <a:srcRect b="6948" l="78938" r="11250" t="73830"/>
          <a:stretch/>
        </p:blipFill>
        <p:spPr>
          <a:xfrm rot="-5400000">
            <a:off x="10615221" y="91627"/>
            <a:ext cx="1375560" cy="151574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8" name="Google Shape;108;p3"/>
          <p:cNvGraphicFramePr/>
          <p:nvPr/>
        </p:nvGraphicFramePr>
        <p:xfrm>
          <a:off x="946150" y="133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{2A3C3C6E-FA49-44BE-9389-992C9AAB32B4}</a:tableStyleId>
              </a:tblPr>
              <a:tblGrid>
                <a:gridCol w="1107975"/>
                <a:gridCol w="970100"/>
                <a:gridCol w="804425"/>
                <a:gridCol w="1240150"/>
                <a:gridCol w="1039025"/>
                <a:gridCol w="1039025"/>
                <a:gridCol w="1039025"/>
                <a:gridCol w="1039025"/>
                <a:gridCol w="1039025"/>
                <a:gridCol w="1039025"/>
              </a:tblGrid>
              <a:tr h="642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No of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Players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Reward %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 Reward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Basic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lvl 02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lvl 03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Courage Pass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Garamond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Courage Pass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&amp;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 lvl 2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Garamond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Courage Pass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&amp;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 lvl 3</a:t>
                      </a:r>
                      <a:endParaRPr b="1" sz="11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</a:t>
                      </a:r>
                      <a:endParaRPr sz="1800" u="none" cap="none" strike="noStrike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</a:t>
                      </a: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5000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7,500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10,000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11,000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13,500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16,000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–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9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36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3750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5,625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7,500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8,250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10,125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12,000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9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32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2500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3,750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5,000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5,500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6,750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8,000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</a:t>
                      </a: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</a:t>
                      </a: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40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2083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3,125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4,167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4,583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5,625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6,667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16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48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1500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2,250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3,000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3,300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4,050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4,800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26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–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</a:t>
                      </a: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72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900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1,350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1,800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1,980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2,430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2,880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</a:t>
                      </a: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64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541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811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1,081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1,189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1,459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1,730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88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– 125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</a:t>
                      </a: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44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362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543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724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796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977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1,158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126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20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50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75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110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135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160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30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33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41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48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Sum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100 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Garamond"/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</a:t>
                      </a: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00,000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9" name="Google Shape;109;p3"/>
          <p:cNvSpPr txBox="1"/>
          <p:nvPr/>
        </p:nvSpPr>
        <p:spPr>
          <a:xfrm>
            <a:off x="2479771" y="525150"/>
            <a:ext cx="8509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 Odin ] </a:t>
            </a:r>
            <a:r>
              <a:rPr b="0" i="0" lang="en-US" sz="2800" u="none" cap="none" strike="noStrike">
                <a:solidFill>
                  <a:srgbClr val="A8D08C"/>
                </a:solidFill>
                <a:latin typeface="Arial"/>
                <a:ea typeface="Arial"/>
                <a:cs typeface="Arial"/>
                <a:sym typeface="Arial"/>
              </a:rPr>
              <a:t>Arena Season 3</a:t>
            </a:r>
            <a:r>
              <a:rPr lang="en-US" sz="2800">
                <a:solidFill>
                  <a:srgbClr val="A8D08C"/>
                </a:solidFill>
              </a:rPr>
              <a:t>6</a:t>
            </a:r>
            <a:r>
              <a:rPr b="0" i="0" lang="en-US" sz="4000" u="none" cap="none" strike="noStrike">
                <a:solidFill>
                  <a:srgbClr val="A8D08C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en-US" sz="28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Rewards</a:t>
            </a:r>
            <a:endParaRPr b="0" i="0" sz="28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3328837" y="5625091"/>
            <a:ext cx="7820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You can buy up to 24 tickets during the entire Season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You can buy up to 4 extra tickets during each session (each refresh, or about </a:t>
            </a:r>
            <a:r>
              <a:rPr b="1" lang="en-US" sz="1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24</a:t>
            </a:r>
            <a:r>
              <a:rPr b="1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 hours).</a:t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1249499" y="5609703"/>
            <a:ext cx="21911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8D08C"/>
                </a:solidFill>
                <a:latin typeface="Arial"/>
                <a:ea typeface="Arial"/>
                <a:cs typeface="Arial"/>
                <a:sym typeface="Arial"/>
              </a:rPr>
              <a:t>Ticket</a:t>
            </a:r>
            <a:r>
              <a:rPr b="0" i="0" lang="en-US" sz="1600" u="none" cap="none" strike="noStrike">
                <a:solidFill>
                  <a:srgbClr val="B1DB9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Information</a:t>
            </a:r>
            <a:endParaRPr b="0" i="0" sz="16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1249499" y="5217117"/>
            <a:ext cx="211743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8D08C"/>
                </a:solidFill>
                <a:latin typeface="Arial"/>
                <a:ea typeface="Arial"/>
                <a:cs typeface="Arial"/>
                <a:sym typeface="Arial"/>
              </a:rPr>
              <a:t>Block</a:t>
            </a:r>
            <a:r>
              <a:rPr b="0" i="0" lang="en-US" sz="16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 Information</a:t>
            </a:r>
            <a:endParaRPr b="0" i="0" sz="16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3320566" y="5128759"/>
            <a:ext cx="808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Start Block : 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17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,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543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,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624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 (Est. 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March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2</a:t>
            </a:r>
            <a:r>
              <a:rPr b="1" baseline="30000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nd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)    </a:t>
            </a:r>
            <a:r>
              <a:rPr b="1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End Block : 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17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,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694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,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8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2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3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 (Est.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 March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16</a:t>
            </a:r>
            <a:r>
              <a:rPr b="1" baseline="30000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th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  <a:endParaRPr/>
          </a:p>
        </p:txBody>
      </p:sp>
      <p:pic>
        <p:nvPicPr>
          <p:cNvPr id="114" name="Google Shape;114;p3"/>
          <p:cNvPicPr preferRelativeResize="0"/>
          <p:nvPr/>
        </p:nvPicPr>
        <p:blipFill rotWithShape="1">
          <a:blip r:embed="rId5">
            <a:alphaModFix/>
          </a:blip>
          <a:srcRect b="6948" l="78938" r="11250" t="73830"/>
          <a:stretch/>
        </p:blipFill>
        <p:spPr>
          <a:xfrm flipH="1">
            <a:off x="233211" y="5228484"/>
            <a:ext cx="1375560" cy="1515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3"/>
          <p:cNvPicPr preferRelativeResize="0"/>
          <p:nvPr/>
        </p:nvPicPr>
        <p:blipFill rotWithShape="1">
          <a:blip r:embed="rId5">
            <a:alphaModFix/>
          </a:blip>
          <a:srcRect b="6948" l="78938" r="11250" t="73830"/>
          <a:stretch/>
        </p:blipFill>
        <p:spPr>
          <a:xfrm flipH="1" rot="5400000">
            <a:off x="239562" y="53353"/>
            <a:ext cx="1375560" cy="1515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ebula" id="120" name="Google Shape;120;p4"/>
          <p:cNvPicPr preferRelativeResize="0"/>
          <p:nvPr/>
        </p:nvPicPr>
        <p:blipFill rotWithShape="1">
          <a:blip r:embed="rId3">
            <a:alphaModFix/>
          </a:blip>
          <a:srcRect b="2757" l="9813" r="8082" t="1227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/>
          <p:nvPr/>
        </p:nvSpPr>
        <p:spPr>
          <a:xfrm>
            <a:off x="0" y="0"/>
            <a:ext cx="12192002" cy="6858000"/>
          </a:xfrm>
          <a:prstGeom prst="rect">
            <a:avLst/>
          </a:prstGeom>
          <a:solidFill>
            <a:srgbClr val="A8D08C">
              <a:alpha val="1176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4"/>
          <p:cNvPicPr preferRelativeResize="0"/>
          <p:nvPr/>
        </p:nvPicPr>
        <p:blipFill rotWithShape="1">
          <a:blip r:embed="rId4">
            <a:alphaModFix/>
          </a:blip>
          <a:srcRect b="5555" l="41813" r="10750" t="6444"/>
          <a:stretch/>
        </p:blipFill>
        <p:spPr>
          <a:xfrm rot="10800000">
            <a:off x="-114302" y="-36398"/>
            <a:ext cx="12560301" cy="7032396"/>
          </a:xfrm>
          <a:prstGeom prst="rect">
            <a:avLst/>
          </a:prstGeom>
          <a:noFill/>
          <a:ln>
            <a:noFill/>
          </a:ln>
          <a:effectLst>
            <a:outerShdw blurRad="50800" sx="101000" rotWithShape="0" algn="t" dir="5400000" dist="38100" sy="101000">
              <a:srgbClr val="000000">
                <a:alpha val="47843"/>
              </a:srgbClr>
            </a:outerShdw>
          </a:effectLst>
        </p:spPr>
      </p:pic>
      <p:pic>
        <p:nvPicPr>
          <p:cNvPr id="123" name="Google Shape;123;p4"/>
          <p:cNvPicPr preferRelativeResize="0"/>
          <p:nvPr/>
        </p:nvPicPr>
        <p:blipFill rotWithShape="1">
          <a:blip r:embed="rId5">
            <a:alphaModFix/>
          </a:blip>
          <a:srcRect b="6948" l="78938" r="11250" t="73830"/>
          <a:stretch/>
        </p:blipFill>
        <p:spPr>
          <a:xfrm>
            <a:off x="10608870" y="5266758"/>
            <a:ext cx="1375560" cy="1515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4"/>
          <p:cNvPicPr preferRelativeResize="0"/>
          <p:nvPr/>
        </p:nvPicPr>
        <p:blipFill rotWithShape="1">
          <a:blip r:embed="rId5">
            <a:alphaModFix/>
          </a:blip>
          <a:srcRect b="6948" l="78938" r="11250" t="73830"/>
          <a:stretch/>
        </p:blipFill>
        <p:spPr>
          <a:xfrm rot="-5400000">
            <a:off x="10615221" y="91627"/>
            <a:ext cx="1375560" cy="151574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5" name="Google Shape;125;p4"/>
          <p:cNvGraphicFramePr/>
          <p:nvPr/>
        </p:nvGraphicFramePr>
        <p:xfrm>
          <a:off x="946150" y="133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{2A3C3C6E-FA49-44BE-9389-992C9AAB32B4}</a:tableStyleId>
              </a:tblPr>
              <a:tblGrid>
                <a:gridCol w="1107975"/>
                <a:gridCol w="970100"/>
                <a:gridCol w="804425"/>
                <a:gridCol w="1240150"/>
                <a:gridCol w="1039025"/>
                <a:gridCol w="1039025"/>
                <a:gridCol w="1039025"/>
                <a:gridCol w="1039025"/>
                <a:gridCol w="1039025"/>
                <a:gridCol w="1039025"/>
              </a:tblGrid>
              <a:tr h="642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No of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Players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Reward %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 Reward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Basic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lvl 02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lvl 03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Courage Pass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Garamond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Courage Pass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&amp;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 lvl 2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Garamond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Courage Pass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&amp;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 lvl 3</a:t>
                      </a:r>
                      <a:endParaRPr b="1" sz="11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 – 5</a:t>
                      </a:r>
                      <a:endParaRPr sz="1800" u="none" cap="none" strike="noStrike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40,000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2,667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5,333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5,333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F9000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6,667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6 – 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32,000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2,133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3,200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4,267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4,267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F9000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5,333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6,400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11 – 17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9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36,000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1,714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2,571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3,429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3,429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F9000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4,286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5,143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18 – 30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48,000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1,231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1,846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2,462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2,462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F9000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3,077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3,692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31 – 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48,000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1,200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1,600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1,600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F9000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2,400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51 – 100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60,000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F9000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1,200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101 – 175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60,000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F9000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176 – 250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52,000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231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347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462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462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F9000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578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693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251 – 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16,000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F9000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501 – 1000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9000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</a:tr>
              <a:tr h="345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Sum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Garamond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Garamond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Garamond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400,000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6" name="Google Shape;126;p4"/>
          <p:cNvSpPr txBox="1"/>
          <p:nvPr/>
        </p:nvSpPr>
        <p:spPr>
          <a:xfrm>
            <a:off x="2273734" y="525149"/>
            <a:ext cx="730469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 Odin ] </a:t>
            </a:r>
            <a:r>
              <a:rPr b="0" i="0" lang="en-US" sz="28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Arena Championship </a:t>
            </a:r>
            <a:r>
              <a:rPr b="0" i="0" lang="en-US" sz="40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4000">
                <a:solidFill>
                  <a:srgbClr val="C55A11"/>
                </a:solidFill>
              </a:rPr>
              <a:t>4</a:t>
            </a:r>
            <a:r>
              <a:rPr b="0" i="0" lang="en-US" sz="28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Rewards</a:t>
            </a:r>
            <a:endParaRPr b="0" i="0" sz="28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3366937" y="5625091"/>
            <a:ext cx="7820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You can buy up to 24 tickets during the entire Season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You can buy up to 4 extra tickets during each session (each refresh, or about </a:t>
            </a:r>
            <a:r>
              <a:rPr b="1" lang="en-US" sz="1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24</a:t>
            </a:r>
            <a:r>
              <a:rPr b="1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 hours).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1249499" y="5609703"/>
            <a:ext cx="21911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Ticket</a:t>
            </a:r>
            <a:r>
              <a:rPr b="0" i="0" lang="en-US" sz="1600" u="none" cap="none" strike="noStrike">
                <a:solidFill>
                  <a:srgbClr val="B1DB9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Information</a:t>
            </a:r>
            <a:endParaRPr b="0" i="0" sz="16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1249499" y="5217117"/>
            <a:ext cx="211743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Block</a:t>
            </a:r>
            <a:r>
              <a:rPr b="0" i="0" lang="en-US" sz="16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 Information</a:t>
            </a:r>
            <a:endParaRPr b="0" i="0" sz="16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3320566" y="5128759"/>
            <a:ext cx="808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Start Block : 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1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5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,9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23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,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62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4 (Est. 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October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3</a:t>
            </a:r>
            <a:r>
              <a:rPr b="1" baseline="30000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rd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)    </a:t>
            </a:r>
            <a:r>
              <a:rPr b="1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End Block : 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1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6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,0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74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,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82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3 (Est. 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October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 1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7</a:t>
            </a:r>
            <a:r>
              <a:rPr b="1" baseline="30000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th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  <a:endParaRPr/>
          </a:p>
        </p:txBody>
      </p:sp>
      <p:pic>
        <p:nvPicPr>
          <p:cNvPr id="131" name="Google Shape;131;p4"/>
          <p:cNvPicPr preferRelativeResize="0"/>
          <p:nvPr/>
        </p:nvPicPr>
        <p:blipFill rotWithShape="1">
          <a:blip r:embed="rId5">
            <a:alphaModFix/>
          </a:blip>
          <a:srcRect b="6948" l="78938" r="11250" t="73830"/>
          <a:stretch/>
        </p:blipFill>
        <p:spPr>
          <a:xfrm flipH="1">
            <a:off x="233211" y="5228484"/>
            <a:ext cx="1375560" cy="1515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4"/>
          <p:cNvPicPr preferRelativeResize="0"/>
          <p:nvPr/>
        </p:nvPicPr>
        <p:blipFill rotWithShape="1">
          <a:blip r:embed="rId5">
            <a:alphaModFix/>
          </a:blip>
          <a:srcRect b="6948" l="78938" r="11250" t="73830"/>
          <a:stretch/>
        </p:blipFill>
        <p:spPr>
          <a:xfrm flipH="1" rot="5400000">
            <a:off x="239562" y="53353"/>
            <a:ext cx="1375560" cy="1515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0bff82d73_0_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8D08C">
              <a:alpha val="117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ebula" id="138" name="Google Shape;138;g3c0bff82d73_0_3"/>
          <p:cNvPicPr preferRelativeResize="0"/>
          <p:nvPr/>
        </p:nvPicPr>
        <p:blipFill rotWithShape="1">
          <a:blip r:embed="rId3">
            <a:alphaModFix/>
          </a:blip>
          <a:srcRect b="2755" l="9811" r="8087" t="1228"/>
          <a:stretch/>
        </p:blipFill>
        <p:spPr>
          <a:xfrm>
            <a:off x="-1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c0bff82d73_0_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21E28">
              <a:alpha val="807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g3c0bff82d73_0_3"/>
          <p:cNvPicPr preferRelativeResize="0"/>
          <p:nvPr/>
        </p:nvPicPr>
        <p:blipFill rotWithShape="1">
          <a:blip r:embed="rId4">
            <a:alphaModFix/>
          </a:blip>
          <a:srcRect b="5561" l="41810" r="10753" t="6441"/>
          <a:stretch/>
        </p:blipFill>
        <p:spPr>
          <a:xfrm rot="10800000">
            <a:off x="-155576" y="-36399"/>
            <a:ext cx="12560301" cy="7032397"/>
          </a:xfrm>
          <a:prstGeom prst="rect">
            <a:avLst/>
          </a:prstGeom>
          <a:noFill/>
          <a:ln>
            <a:noFill/>
          </a:ln>
          <a:effectLst>
            <a:outerShdw blurRad="50800" sx="101000" rotWithShape="0" algn="t" dir="5400000" dist="38100" sy="101000">
              <a:srgbClr val="000000">
                <a:alpha val="47840"/>
              </a:srgbClr>
            </a:outerShdw>
          </a:effectLst>
        </p:spPr>
      </p:pic>
      <p:pic>
        <p:nvPicPr>
          <p:cNvPr id="141" name="Google Shape;141;g3c0bff82d73_0_3"/>
          <p:cNvPicPr preferRelativeResize="0"/>
          <p:nvPr/>
        </p:nvPicPr>
        <p:blipFill rotWithShape="1">
          <a:blip r:embed="rId5">
            <a:alphaModFix/>
          </a:blip>
          <a:srcRect b="6948" l="78937" r="11250" t="73829"/>
          <a:stretch/>
        </p:blipFill>
        <p:spPr>
          <a:xfrm>
            <a:off x="10608870" y="5266758"/>
            <a:ext cx="1375562" cy="1515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3c0bff82d73_0_3"/>
          <p:cNvPicPr preferRelativeResize="0"/>
          <p:nvPr/>
        </p:nvPicPr>
        <p:blipFill rotWithShape="1">
          <a:blip r:embed="rId5">
            <a:alphaModFix/>
          </a:blip>
          <a:srcRect b="6948" l="78937" r="11250" t="73829"/>
          <a:stretch/>
        </p:blipFill>
        <p:spPr>
          <a:xfrm rot="-5400000">
            <a:off x="10615220" y="91626"/>
            <a:ext cx="1375562" cy="151574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3" name="Google Shape;143;g3c0bff82d73_0_3"/>
          <p:cNvGraphicFramePr/>
          <p:nvPr/>
        </p:nvGraphicFramePr>
        <p:xfrm>
          <a:off x="946150" y="133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{2A3C3C6E-FA49-44BE-9389-992C9AAB32B4}</a:tableStyleId>
              </a:tblPr>
              <a:tblGrid>
                <a:gridCol w="1107975"/>
                <a:gridCol w="970100"/>
                <a:gridCol w="804425"/>
                <a:gridCol w="1240150"/>
                <a:gridCol w="1039025"/>
                <a:gridCol w="1039025"/>
                <a:gridCol w="1039025"/>
                <a:gridCol w="1039025"/>
                <a:gridCol w="1039025"/>
                <a:gridCol w="1039025"/>
              </a:tblGrid>
              <a:tr h="642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No of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Players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Reward %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 Reward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Basic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lvl 02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lvl 03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Courage Pass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Garamond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Courage Pass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&amp;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 lvl 2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Garamond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Courage Pass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&amp;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 lvl 3</a:t>
                      </a:r>
                      <a:endParaRPr b="1" sz="11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</a:t>
                      </a:r>
                      <a:endParaRPr sz="1800" u="none" cap="none" strike="noStrike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</a:t>
                      </a: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5000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7,500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10,000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11,000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13,500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16,000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–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9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36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3750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5,625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7,500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8,250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10,125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12,000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9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32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2500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3,750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5,000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5,500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6,750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8,000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</a:t>
                      </a: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</a:t>
                      </a: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40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2083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3,125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4,167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4,583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5,625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6,667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16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48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1500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2,250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3,000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3,300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4,050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4,800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26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–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</a:t>
                      </a: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72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900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1,350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1,800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1,980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2,430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2,880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</a:t>
                      </a: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64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541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811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1,081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1,189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1,459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1,730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88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– 125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</a:t>
                      </a: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44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362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543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724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796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977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1,158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126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20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50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75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110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135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160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30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33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41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48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Sum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100 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Garamond"/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</a:t>
                      </a: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00,000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4" name="Google Shape;144;g3c0bff82d73_0_3"/>
          <p:cNvSpPr txBox="1"/>
          <p:nvPr/>
        </p:nvSpPr>
        <p:spPr>
          <a:xfrm>
            <a:off x="2479771" y="525150"/>
            <a:ext cx="8509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lang="en-US" sz="3600">
                <a:solidFill>
                  <a:schemeClr val="lt1"/>
                </a:solidFill>
              </a:rPr>
              <a:t>Heimdall</a:t>
            </a: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 ] </a:t>
            </a:r>
            <a:r>
              <a:rPr b="0" i="0" lang="en-US" sz="2800" u="none" cap="none" strike="noStrike">
                <a:solidFill>
                  <a:srgbClr val="A8D08C"/>
                </a:solidFill>
                <a:latin typeface="Arial"/>
                <a:ea typeface="Arial"/>
                <a:cs typeface="Arial"/>
                <a:sym typeface="Arial"/>
              </a:rPr>
              <a:t>Arena Season </a:t>
            </a:r>
            <a:r>
              <a:rPr lang="en-US" sz="2800">
                <a:solidFill>
                  <a:srgbClr val="A8D08C"/>
                </a:solidFill>
              </a:rPr>
              <a:t>20</a:t>
            </a:r>
            <a:r>
              <a:rPr b="0" i="0" lang="en-US" sz="4000" u="none" cap="none" strike="noStrike">
                <a:solidFill>
                  <a:srgbClr val="A8D08C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en-US" sz="28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Rewards</a:t>
            </a:r>
            <a:endParaRPr b="0" i="0" sz="28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c0bff82d73_0_3"/>
          <p:cNvSpPr txBox="1"/>
          <p:nvPr/>
        </p:nvSpPr>
        <p:spPr>
          <a:xfrm>
            <a:off x="3328837" y="5625091"/>
            <a:ext cx="7820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You can buy up to 24 tickets during the entire Season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You can buy up to 4 extra tickets during each session (each refresh, or about </a:t>
            </a:r>
            <a:r>
              <a:rPr b="1" lang="en-US" sz="1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24</a:t>
            </a:r>
            <a:r>
              <a:rPr b="1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 hours).</a:t>
            </a:r>
            <a:endParaRPr/>
          </a:p>
        </p:txBody>
      </p:sp>
      <p:sp>
        <p:nvSpPr>
          <p:cNvPr id="146" name="Google Shape;146;g3c0bff82d73_0_3"/>
          <p:cNvSpPr txBox="1"/>
          <p:nvPr/>
        </p:nvSpPr>
        <p:spPr>
          <a:xfrm>
            <a:off x="1249499" y="5609703"/>
            <a:ext cx="2191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8D08C"/>
                </a:solidFill>
                <a:latin typeface="Arial"/>
                <a:ea typeface="Arial"/>
                <a:cs typeface="Arial"/>
                <a:sym typeface="Arial"/>
              </a:rPr>
              <a:t>Ticket</a:t>
            </a:r>
            <a:r>
              <a:rPr b="0" i="0" lang="en-US" sz="1600" u="none" cap="none" strike="noStrike">
                <a:solidFill>
                  <a:srgbClr val="B1DB9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Information</a:t>
            </a:r>
            <a:endParaRPr b="0" i="0" sz="16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c0bff82d73_0_3"/>
          <p:cNvSpPr txBox="1"/>
          <p:nvPr/>
        </p:nvSpPr>
        <p:spPr>
          <a:xfrm>
            <a:off x="1249499" y="5217117"/>
            <a:ext cx="211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8D08C"/>
                </a:solidFill>
                <a:latin typeface="Arial"/>
                <a:ea typeface="Arial"/>
                <a:cs typeface="Arial"/>
                <a:sym typeface="Arial"/>
              </a:rPr>
              <a:t>Block</a:t>
            </a:r>
            <a:r>
              <a:rPr b="0" i="0" lang="en-US" sz="16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 Information</a:t>
            </a:r>
            <a:endParaRPr b="0" i="0" sz="16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c0bff82d73_0_3"/>
          <p:cNvSpPr txBox="1"/>
          <p:nvPr/>
        </p:nvSpPr>
        <p:spPr>
          <a:xfrm>
            <a:off x="3320566" y="5128759"/>
            <a:ext cx="808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Start Block : 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9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,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067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,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181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 (Est. 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March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4</a:t>
            </a:r>
            <a:r>
              <a:rPr b="1" baseline="30000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th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)    </a:t>
            </a:r>
            <a:r>
              <a:rPr b="1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End Block : 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9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,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218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,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380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 (Est.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 March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18</a:t>
            </a:r>
            <a:r>
              <a:rPr b="1" baseline="30000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th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  <a:endParaRPr/>
          </a:p>
        </p:txBody>
      </p:sp>
      <p:pic>
        <p:nvPicPr>
          <p:cNvPr id="149" name="Google Shape;149;g3c0bff82d73_0_3"/>
          <p:cNvPicPr preferRelativeResize="0"/>
          <p:nvPr/>
        </p:nvPicPr>
        <p:blipFill rotWithShape="1">
          <a:blip r:embed="rId5">
            <a:alphaModFix/>
          </a:blip>
          <a:srcRect b="6948" l="78937" r="11250" t="73829"/>
          <a:stretch/>
        </p:blipFill>
        <p:spPr>
          <a:xfrm flipH="1">
            <a:off x="233209" y="5228484"/>
            <a:ext cx="1375562" cy="1515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g3c0bff82d73_0_3"/>
          <p:cNvPicPr preferRelativeResize="0"/>
          <p:nvPr/>
        </p:nvPicPr>
        <p:blipFill rotWithShape="1">
          <a:blip r:embed="rId5">
            <a:alphaModFix/>
          </a:blip>
          <a:srcRect b="6948" l="78937" r="11250" t="73829"/>
          <a:stretch/>
        </p:blipFill>
        <p:spPr>
          <a:xfrm flipH="1" rot="5400000">
            <a:off x="239561" y="53352"/>
            <a:ext cx="1375562" cy="1515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ebula" id="155" name="Google Shape;155;p6"/>
          <p:cNvPicPr preferRelativeResize="0"/>
          <p:nvPr/>
        </p:nvPicPr>
        <p:blipFill rotWithShape="1">
          <a:blip r:embed="rId3">
            <a:alphaModFix/>
          </a:blip>
          <a:srcRect b="2757" l="9813" r="8082" t="1227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/>
          <p:nvPr/>
        </p:nvSpPr>
        <p:spPr>
          <a:xfrm>
            <a:off x="0" y="0"/>
            <a:ext cx="12192002" cy="6858000"/>
          </a:xfrm>
          <a:prstGeom prst="rect">
            <a:avLst/>
          </a:prstGeom>
          <a:solidFill>
            <a:srgbClr val="A8D08C">
              <a:alpha val="1176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6"/>
          <p:cNvPicPr preferRelativeResize="0"/>
          <p:nvPr/>
        </p:nvPicPr>
        <p:blipFill rotWithShape="1">
          <a:blip r:embed="rId4">
            <a:alphaModFix/>
          </a:blip>
          <a:srcRect b="5555" l="41813" r="10750" t="6444"/>
          <a:stretch/>
        </p:blipFill>
        <p:spPr>
          <a:xfrm rot="10800000">
            <a:off x="-114302" y="-36398"/>
            <a:ext cx="12560301" cy="7032396"/>
          </a:xfrm>
          <a:prstGeom prst="rect">
            <a:avLst/>
          </a:prstGeom>
          <a:noFill/>
          <a:ln>
            <a:noFill/>
          </a:ln>
          <a:effectLst>
            <a:outerShdw blurRad="50800" sx="101000" rotWithShape="0" algn="t" dir="5400000" dist="38100" sy="101000">
              <a:srgbClr val="000000">
                <a:alpha val="47843"/>
              </a:srgbClr>
            </a:outerShdw>
          </a:effectLst>
        </p:spPr>
      </p:pic>
      <p:pic>
        <p:nvPicPr>
          <p:cNvPr id="158" name="Google Shape;158;p6"/>
          <p:cNvPicPr preferRelativeResize="0"/>
          <p:nvPr/>
        </p:nvPicPr>
        <p:blipFill rotWithShape="1">
          <a:blip r:embed="rId5">
            <a:alphaModFix/>
          </a:blip>
          <a:srcRect b="6948" l="78938" r="11250" t="73830"/>
          <a:stretch/>
        </p:blipFill>
        <p:spPr>
          <a:xfrm>
            <a:off x="10608870" y="5266758"/>
            <a:ext cx="1375560" cy="1515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6"/>
          <p:cNvPicPr preferRelativeResize="0"/>
          <p:nvPr/>
        </p:nvPicPr>
        <p:blipFill rotWithShape="1">
          <a:blip r:embed="rId5">
            <a:alphaModFix/>
          </a:blip>
          <a:srcRect b="6948" l="78938" r="11250" t="73830"/>
          <a:stretch/>
        </p:blipFill>
        <p:spPr>
          <a:xfrm rot="-5400000">
            <a:off x="10615221" y="91627"/>
            <a:ext cx="1375560" cy="151574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0" name="Google Shape;160;p6"/>
          <p:cNvGraphicFramePr/>
          <p:nvPr/>
        </p:nvGraphicFramePr>
        <p:xfrm>
          <a:off x="946150" y="133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{2A3C3C6E-FA49-44BE-9389-992C9AAB32B4}</a:tableStyleId>
              </a:tblPr>
              <a:tblGrid>
                <a:gridCol w="1107975"/>
                <a:gridCol w="970100"/>
                <a:gridCol w="804425"/>
                <a:gridCol w="1240150"/>
                <a:gridCol w="1039025"/>
                <a:gridCol w="1039025"/>
                <a:gridCol w="1039025"/>
                <a:gridCol w="1039025"/>
                <a:gridCol w="1039025"/>
                <a:gridCol w="1039025"/>
              </a:tblGrid>
              <a:tr h="642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No of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Players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Reward %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 Reward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Basic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lvl 02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lvl 03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Courage Pass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Garamond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Courage Pass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&amp;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 lvl 2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Garamond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Courage Pass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&amp;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 lvl 3</a:t>
                      </a:r>
                      <a:endParaRPr b="1" sz="11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 – 5</a:t>
                      </a:r>
                      <a:endParaRPr sz="1800" u="none" cap="none" strike="noStrike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40,000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2,667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5,333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5,333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F9000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6,667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6 – 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32,000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2,133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3,200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4,267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4,267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F9000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5,333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6,400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11 – 17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9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36,000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1,714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2,571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3,429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3,429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F9000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4,286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5,143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18 – 30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48,000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1,231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1,846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2,462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2,462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F9000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3,077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3,692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31 – 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48,000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1,200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1,600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1,600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F9000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2,400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51 – 100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60,000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F9000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1,200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101 – 175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60,000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F9000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176 – 250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52,000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231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347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462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462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F9000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578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693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251 – 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16,000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F9000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501 – 1000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5B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9000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48235">
                        <a:alpha val="29803"/>
                      </a:srgbClr>
                    </a:solidFill>
                  </a:tcPr>
                </a:tc>
              </a:tr>
              <a:tr h="345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Sum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Garamond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Garamond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Garamond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400,000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1" name="Google Shape;161;p6"/>
          <p:cNvSpPr txBox="1"/>
          <p:nvPr/>
        </p:nvSpPr>
        <p:spPr>
          <a:xfrm>
            <a:off x="2273723" y="525150"/>
            <a:ext cx="8411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 Heimdall ] </a:t>
            </a:r>
            <a:r>
              <a:rPr b="0" i="0" lang="en-US" sz="28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Arena Championship </a:t>
            </a:r>
            <a:r>
              <a:rPr lang="en-US" sz="4000">
                <a:solidFill>
                  <a:srgbClr val="C55A11"/>
                </a:solidFill>
              </a:rPr>
              <a:t>7</a:t>
            </a:r>
            <a:r>
              <a:rPr b="0" i="0" lang="en-US" sz="28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Rewards</a:t>
            </a:r>
            <a:endParaRPr b="0" i="0" sz="28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3366937" y="5625091"/>
            <a:ext cx="7820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You can buy up to 24 tickets during the entire Season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You can buy up to 4 extra tickets during each session (each refresh, or about </a:t>
            </a:r>
            <a:r>
              <a:rPr b="1" lang="en-US" sz="1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24</a:t>
            </a:r>
            <a:r>
              <a:rPr b="1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 hours).</a:t>
            </a:r>
            <a:endParaRPr/>
          </a:p>
        </p:txBody>
      </p:sp>
      <p:sp>
        <p:nvSpPr>
          <p:cNvPr id="163" name="Google Shape;163;p6"/>
          <p:cNvSpPr txBox="1"/>
          <p:nvPr/>
        </p:nvSpPr>
        <p:spPr>
          <a:xfrm>
            <a:off x="1249499" y="5609703"/>
            <a:ext cx="21911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Ticket</a:t>
            </a:r>
            <a:r>
              <a:rPr b="0" i="0" lang="en-US" sz="1600" u="none" cap="none" strike="noStrike">
                <a:solidFill>
                  <a:srgbClr val="B1DB9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Information</a:t>
            </a:r>
            <a:endParaRPr b="0" i="0" sz="16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 txBox="1"/>
          <p:nvPr/>
        </p:nvSpPr>
        <p:spPr>
          <a:xfrm>
            <a:off x="1249499" y="5217117"/>
            <a:ext cx="211743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Block</a:t>
            </a:r>
            <a:r>
              <a:rPr b="0" i="0" lang="en-US" sz="16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 Information</a:t>
            </a:r>
            <a:endParaRPr b="0" i="0" sz="16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 txBox="1"/>
          <p:nvPr/>
        </p:nvSpPr>
        <p:spPr>
          <a:xfrm>
            <a:off x="3320566" y="5128759"/>
            <a:ext cx="808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Start Block : 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8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,743,181 (Est. February 1</a:t>
            </a:r>
            <a:r>
              <a:rPr b="1" baseline="30000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st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    </a:t>
            </a:r>
            <a:r>
              <a:rPr b="1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End Block : 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8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,894,380 (Est. February 15</a:t>
            </a:r>
            <a:r>
              <a:rPr b="1" baseline="30000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th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) </a:t>
            </a:r>
            <a:endParaRPr/>
          </a:p>
        </p:txBody>
      </p:sp>
      <p:pic>
        <p:nvPicPr>
          <p:cNvPr id="166" name="Google Shape;166;p6"/>
          <p:cNvPicPr preferRelativeResize="0"/>
          <p:nvPr/>
        </p:nvPicPr>
        <p:blipFill rotWithShape="1">
          <a:blip r:embed="rId5">
            <a:alphaModFix/>
          </a:blip>
          <a:srcRect b="6948" l="78938" r="11250" t="73830"/>
          <a:stretch/>
        </p:blipFill>
        <p:spPr>
          <a:xfrm flipH="1">
            <a:off x="233211" y="5228484"/>
            <a:ext cx="1375560" cy="1515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6"/>
          <p:cNvPicPr preferRelativeResize="0"/>
          <p:nvPr/>
        </p:nvPicPr>
        <p:blipFill rotWithShape="1">
          <a:blip r:embed="rId5">
            <a:alphaModFix/>
          </a:blip>
          <a:srcRect b="6948" l="78938" r="11250" t="73830"/>
          <a:stretch/>
        </p:blipFill>
        <p:spPr>
          <a:xfrm flipH="1" rot="5400000">
            <a:off x="239562" y="53353"/>
            <a:ext cx="1375560" cy="1515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/>
          <p:cNvSpPr txBox="1"/>
          <p:nvPr>
            <p:ph type="title"/>
          </p:nvPr>
        </p:nvSpPr>
        <p:spPr>
          <a:xfrm>
            <a:off x="838200" y="365127"/>
            <a:ext cx="10515600" cy="5093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alibri"/>
              <a:buNone/>
            </a:pPr>
            <a:r>
              <a:rPr lang="en-US" sz="8000"/>
              <a:t>Old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bafa42a11_0_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8D08C">
              <a:alpha val="117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ebula" id="178" name="Google Shape;178;g3abafa42a11_0_17"/>
          <p:cNvPicPr preferRelativeResize="0"/>
          <p:nvPr/>
        </p:nvPicPr>
        <p:blipFill rotWithShape="1">
          <a:blip r:embed="rId3">
            <a:alphaModFix/>
          </a:blip>
          <a:srcRect b="2755" l="9811" r="8087" t="1228"/>
          <a:stretch/>
        </p:blipFill>
        <p:spPr>
          <a:xfrm>
            <a:off x="-1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abafa42a11_0_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21E28">
              <a:alpha val="807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g3abafa42a11_0_17"/>
          <p:cNvPicPr preferRelativeResize="0"/>
          <p:nvPr/>
        </p:nvPicPr>
        <p:blipFill rotWithShape="1">
          <a:blip r:embed="rId4">
            <a:alphaModFix/>
          </a:blip>
          <a:srcRect b="5561" l="41810" r="10753" t="6441"/>
          <a:stretch/>
        </p:blipFill>
        <p:spPr>
          <a:xfrm rot="10800000">
            <a:off x="-155576" y="-36399"/>
            <a:ext cx="12560301" cy="7032397"/>
          </a:xfrm>
          <a:prstGeom prst="rect">
            <a:avLst/>
          </a:prstGeom>
          <a:noFill/>
          <a:ln>
            <a:noFill/>
          </a:ln>
          <a:effectLst>
            <a:outerShdw blurRad="50800" sx="101000" rotWithShape="0" algn="t" dir="5400000" dist="38100" sy="101000">
              <a:srgbClr val="000000">
                <a:alpha val="47840"/>
              </a:srgbClr>
            </a:outerShdw>
          </a:effectLst>
        </p:spPr>
      </p:pic>
      <p:pic>
        <p:nvPicPr>
          <p:cNvPr id="181" name="Google Shape;181;g3abafa42a11_0_17"/>
          <p:cNvPicPr preferRelativeResize="0"/>
          <p:nvPr/>
        </p:nvPicPr>
        <p:blipFill rotWithShape="1">
          <a:blip r:embed="rId5">
            <a:alphaModFix/>
          </a:blip>
          <a:srcRect b="6948" l="78937" r="11250" t="73829"/>
          <a:stretch/>
        </p:blipFill>
        <p:spPr>
          <a:xfrm>
            <a:off x="10608870" y="5266758"/>
            <a:ext cx="1375562" cy="1515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g3abafa42a11_0_17"/>
          <p:cNvPicPr preferRelativeResize="0"/>
          <p:nvPr/>
        </p:nvPicPr>
        <p:blipFill rotWithShape="1">
          <a:blip r:embed="rId5">
            <a:alphaModFix/>
          </a:blip>
          <a:srcRect b="6948" l="78937" r="11250" t="73829"/>
          <a:stretch/>
        </p:blipFill>
        <p:spPr>
          <a:xfrm rot="-5400000">
            <a:off x="10615220" y="91626"/>
            <a:ext cx="1375562" cy="151574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3" name="Google Shape;183;g3abafa42a11_0_17"/>
          <p:cNvGraphicFramePr/>
          <p:nvPr/>
        </p:nvGraphicFramePr>
        <p:xfrm>
          <a:off x="946150" y="133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{2A3C3C6E-FA49-44BE-9389-992C9AAB32B4}</a:tableStyleId>
              </a:tblPr>
              <a:tblGrid>
                <a:gridCol w="1107975"/>
                <a:gridCol w="970100"/>
                <a:gridCol w="804425"/>
                <a:gridCol w="1240150"/>
                <a:gridCol w="1039025"/>
                <a:gridCol w="1039025"/>
                <a:gridCol w="1039025"/>
                <a:gridCol w="1039025"/>
                <a:gridCol w="1039025"/>
                <a:gridCol w="1039025"/>
              </a:tblGrid>
              <a:tr h="642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No of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Players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Reward %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 Reward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Basic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lvl 02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lvl 03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Courage Pass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Garamond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Courage Pass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&amp;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 lvl 2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Garamond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Courage Pass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&amp;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 lvl 3</a:t>
                      </a:r>
                      <a:endParaRPr b="1" sz="11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</a:t>
                      </a:r>
                      <a:endParaRPr sz="1800" u="none" cap="none" strike="noStrike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</a:t>
                      </a: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5,833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8,750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11,667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11,667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14,583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17,500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40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4,444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6,667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8,889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8,889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11,111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13,333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9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35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2,917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4,375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5,833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5,833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7,292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8,750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9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45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2,500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3,750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5,000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5,000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6,250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7,500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16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60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3,000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4,000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4,000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5,000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6,000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26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90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1,200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1,800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2,400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2,400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3,000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3,600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90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811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1,216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1,622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1,622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2,027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2,432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88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</a:t>
                      </a: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60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526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789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1,053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1,053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1,316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1,579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126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30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80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120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160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160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240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15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30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40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40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50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60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Sum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100 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Garamond"/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00,000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4" name="Google Shape;184;g3abafa42a11_0_17"/>
          <p:cNvSpPr txBox="1"/>
          <p:nvPr/>
        </p:nvSpPr>
        <p:spPr>
          <a:xfrm>
            <a:off x="2479771" y="525150"/>
            <a:ext cx="8509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 Odin ] </a:t>
            </a:r>
            <a:r>
              <a:rPr b="0" i="0" lang="en-US" sz="2800" u="none" cap="none" strike="noStrike">
                <a:solidFill>
                  <a:srgbClr val="A8D08C"/>
                </a:solidFill>
                <a:latin typeface="Arial"/>
                <a:ea typeface="Arial"/>
                <a:cs typeface="Arial"/>
                <a:sym typeface="Arial"/>
              </a:rPr>
              <a:t>Arena </a:t>
            </a:r>
            <a:r>
              <a:rPr lang="en-US" sz="2800">
                <a:solidFill>
                  <a:srgbClr val="A8D08C"/>
                </a:solidFill>
              </a:rPr>
              <a:t>Championship 15</a:t>
            </a:r>
            <a:r>
              <a:rPr b="0" i="0" lang="en-US" sz="4000" u="none" cap="none" strike="noStrike">
                <a:solidFill>
                  <a:srgbClr val="A8D08C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en-US" sz="28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Rewards</a:t>
            </a:r>
            <a:endParaRPr b="0" i="0" sz="28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abafa42a11_0_17"/>
          <p:cNvSpPr txBox="1"/>
          <p:nvPr/>
        </p:nvSpPr>
        <p:spPr>
          <a:xfrm>
            <a:off x="3328837" y="5625091"/>
            <a:ext cx="7820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You can buy up to 24 tickets during the entire Season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You can buy up to 4 extra tickets during each session (each refresh, or about </a:t>
            </a:r>
            <a:r>
              <a:rPr b="1" lang="en-US" sz="1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24</a:t>
            </a:r>
            <a:r>
              <a:rPr b="1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 hours).</a:t>
            </a:r>
            <a:endParaRPr/>
          </a:p>
        </p:txBody>
      </p:sp>
      <p:sp>
        <p:nvSpPr>
          <p:cNvPr id="186" name="Google Shape;186;g3abafa42a11_0_17"/>
          <p:cNvSpPr txBox="1"/>
          <p:nvPr/>
        </p:nvSpPr>
        <p:spPr>
          <a:xfrm>
            <a:off x="1249499" y="5609703"/>
            <a:ext cx="2191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8D08C"/>
                </a:solidFill>
                <a:latin typeface="Arial"/>
                <a:ea typeface="Arial"/>
                <a:cs typeface="Arial"/>
                <a:sym typeface="Arial"/>
              </a:rPr>
              <a:t>Ticket</a:t>
            </a:r>
            <a:r>
              <a:rPr b="0" i="0" lang="en-US" sz="1600" u="none" cap="none" strike="noStrike">
                <a:solidFill>
                  <a:srgbClr val="B1DB9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Information</a:t>
            </a:r>
            <a:endParaRPr b="0" i="0" sz="16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abafa42a11_0_17"/>
          <p:cNvSpPr txBox="1"/>
          <p:nvPr/>
        </p:nvSpPr>
        <p:spPr>
          <a:xfrm>
            <a:off x="1249499" y="5217117"/>
            <a:ext cx="211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8D08C"/>
                </a:solidFill>
                <a:latin typeface="Arial"/>
                <a:ea typeface="Arial"/>
                <a:cs typeface="Arial"/>
                <a:sym typeface="Arial"/>
              </a:rPr>
              <a:t>Block</a:t>
            </a:r>
            <a:r>
              <a:rPr b="0" i="0" lang="en-US" sz="16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 Information</a:t>
            </a:r>
            <a:endParaRPr b="0" i="0" sz="16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abafa42a11_0_17"/>
          <p:cNvSpPr txBox="1"/>
          <p:nvPr/>
        </p:nvSpPr>
        <p:spPr>
          <a:xfrm>
            <a:off x="3320566" y="5128759"/>
            <a:ext cx="808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Start Block : 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16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,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895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,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624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 (Est. 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January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1</a:t>
            </a:r>
            <a:r>
              <a:rPr b="1" baseline="30000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st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)    </a:t>
            </a:r>
            <a:r>
              <a:rPr b="1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End Block : 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17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,046,82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3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 (Est.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 January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15</a:t>
            </a:r>
            <a:r>
              <a:rPr b="1" baseline="30000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th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  <a:endParaRPr/>
          </a:p>
        </p:txBody>
      </p:sp>
      <p:pic>
        <p:nvPicPr>
          <p:cNvPr id="189" name="Google Shape;189;g3abafa42a11_0_17"/>
          <p:cNvPicPr preferRelativeResize="0"/>
          <p:nvPr/>
        </p:nvPicPr>
        <p:blipFill rotWithShape="1">
          <a:blip r:embed="rId5">
            <a:alphaModFix/>
          </a:blip>
          <a:srcRect b="6948" l="78937" r="11250" t="73829"/>
          <a:stretch/>
        </p:blipFill>
        <p:spPr>
          <a:xfrm flipH="1">
            <a:off x="233209" y="5228484"/>
            <a:ext cx="1375562" cy="1515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abafa42a11_0_17"/>
          <p:cNvPicPr preferRelativeResize="0"/>
          <p:nvPr/>
        </p:nvPicPr>
        <p:blipFill rotWithShape="1">
          <a:blip r:embed="rId5">
            <a:alphaModFix/>
          </a:blip>
          <a:srcRect b="6948" l="78937" r="11250" t="73829"/>
          <a:stretch/>
        </p:blipFill>
        <p:spPr>
          <a:xfrm flipH="1" rot="5400000">
            <a:off x="239561" y="53352"/>
            <a:ext cx="1375562" cy="1515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bbcaa5d1e_0_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8D08C">
              <a:alpha val="117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ebula" id="196" name="Google Shape;196;g3abbcaa5d1e_0_0"/>
          <p:cNvPicPr preferRelativeResize="0"/>
          <p:nvPr/>
        </p:nvPicPr>
        <p:blipFill rotWithShape="1">
          <a:blip r:embed="rId3">
            <a:alphaModFix/>
          </a:blip>
          <a:srcRect b="2755" l="9811" r="8087" t="1228"/>
          <a:stretch/>
        </p:blipFill>
        <p:spPr>
          <a:xfrm>
            <a:off x="-1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abbcaa5d1e_0_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21E28">
              <a:alpha val="807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g3abbcaa5d1e_0_0"/>
          <p:cNvPicPr preferRelativeResize="0"/>
          <p:nvPr/>
        </p:nvPicPr>
        <p:blipFill rotWithShape="1">
          <a:blip r:embed="rId4">
            <a:alphaModFix/>
          </a:blip>
          <a:srcRect b="5561" l="41810" r="10753" t="6441"/>
          <a:stretch/>
        </p:blipFill>
        <p:spPr>
          <a:xfrm rot="10800000">
            <a:off x="-155576" y="-36399"/>
            <a:ext cx="12560301" cy="7032397"/>
          </a:xfrm>
          <a:prstGeom prst="rect">
            <a:avLst/>
          </a:prstGeom>
          <a:noFill/>
          <a:ln>
            <a:noFill/>
          </a:ln>
          <a:effectLst>
            <a:outerShdw blurRad="50800" sx="101000" rotWithShape="0" algn="t" dir="5400000" dist="38100" sy="101000">
              <a:srgbClr val="000000">
                <a:alpha val="47840"/>
              </a:srgbClr>
            </a:outerShdw>
          </a:effectLst>
        </p:spPr>
      </p:pic>
      <p:pic>
        <p:nvPicPr>
          <p:cNvPr id="199" name="Google Shape;199;g3abbcaa5d1e_0_0"/>
          <p:cNvPicPr preferRelativeResize="0"/>
          <p:nvPr/>
        </p:nvPicPr>
        <p:blipFill rotWithShape="1">
          <a:blip r:embed="rId5">
            <a:alphaModFix/>
          </a:blip>
          <a:srcRect b="6948" l="78937" r="11250" t="73829"/>
          <a:stretch/>
        </p:blipFill>
        <p:spPr>
          <a:xfrm>
            <a:off x="10608870" y="5266758"/>
            <a:ext cx="1375562" cy="1515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g3abbcaa5d1e_0_0"/>
          <p:cNvPicPr preferRelativeResize="0"/>
          <p:nvPr/>
        </p:nvPicPr>
        <p:blipFill rotWithShape="1">
          <a:blip r:embed="rId5">
            <a:alphaModFix/>
          </a:blip>
          <a:srcRect b="6948" l="78937" r="11250" t="73829"/>
          <a:stretch/>
        </p:blipFill>
        <p:spPr>
          <a:xfrm rot="-5400000">
            <a:off x="10615220" y="91626"/>
            <a:ext cx="1375562" cy="151574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1" name="Google Shape;201;g3abbcaa5d1e_0_0"/>
          <p:cNvGraphicFramePr/>
          <p:nvPr/>
        </p:nvGraphicFramePr>
        <p:xfrm>
          <a:off x="946150" y="133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{2A3C3C6E-FA49-44BE-9389-992C9AAB32B4}</a:tableStyleId>
              </a:tblPr>
              <a:tblGrid>
                <a:gridCol w="1107975"/>
                <a:gridCol w="970100"/>
                <a:gridCol w="804425"/>
                <a:gridCol w="1240150"/>
                <a:gridCol w="1039025"/>
                <a:gridCol w="1039025"/>
                <a:gridCol w="1039025"/>
                <a:gridCol w="1039025"/>
                <a:gridCol w="1039025"/>
                <a:gridCol w="1039025"/>
              </a:tblGrid>
              <a:tr h="642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No of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Players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Reward %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 Reward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Basic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lvl 02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lvl 03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Courage Pass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Garamond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Courage Pass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&amp;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 lvl 2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Garamond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Courage Pass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&amp;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 lvl 3</a:t>
                      </a:r>
                      <a:endParaRPr b="1" sz="11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</a:t>
                      </a:r>
                      <a:endParaRPr sz="1800" u="none" cap="none" strike="noStrike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</a:t>
                      </a: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5,833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8,750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11,667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11,667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14,583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17,500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40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4,444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6,667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8,889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8,889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11,111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13,333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9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35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2,917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4,375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5,833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5,833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7,292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8,750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9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45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2,500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3,750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5,000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5,000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6,250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7,500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16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60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3,000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4,000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4,000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5,000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6,000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26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90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1,200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1,800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2,400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2,400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3,000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3,600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90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811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1,216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1,622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1,622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2,027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2,432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88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</a:t>
                      </a: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60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526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789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1,053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1,053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1,316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1,579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126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30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80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120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160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160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240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15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30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40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40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50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60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Sum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100 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Garamond"/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00,000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2" name="Google Shape;202;g3abbcaa5d1e_0_0"/>
          <p:cNvSpPr txBox="1"/>
          <p:nvPr/>
        </p:nvSpPr>
        <p:spPr>
          <a:xfrm>
            <a:off x="2479771" y="525150"/>
            <a:ext cx="8509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lang="en-US" sz="3600">
                <a:solidFill>
                  <a:schemeClr val="lt1"/>
                </a:solidFill>
              </a:rPr>
              <a:t>Heimdall</a:t>
            </a: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 ] </a:t>
            </a:r>
            <a:r>
              <a:rPr b="0" i="0" lang="en-US" sz="2800" u="none" cap="none" strike="noStrike">
                <a:solidFill>
                  <a:srgbClr val="A8D08C"/>
                </a:solidFill>
                <a:latin typeface="Arial"/>
                <a:ea typeface="Arial"/>
                <a:cs typeface="Arial"/>
                <a:sym typeface="Arial"/>
              </a:rPr>
              <a:t>Arena Season </a:t>
            </a:r>
            <a:r>
              <a:rPr lang="en-US" sz="2800">
                <a:solidFill>
                  <a:srgbClr val="A8D08C"/>
                </a:solidFill>
              </a:rPr>
              <a:t>19</a:t>
            </a:r>
            <a:r>
              <a:rPr b="0" i="0" lang="en-US" sz="4000" u="none" cap="none" strike="noStrike">
                <a:solidFill>
                  <a:srgbClr val="A8D08C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en-US" sz="28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Rewards</a:t>
            </a:r>
            <a:endParaRPr b="0" i="0" sz="28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abbcaa5d1e_0_0"/>
          <p:cNvSpPr txBox="1"/>
          <p:nvPr/>
        </p:nvSpPr>
        <p:spPr>
          <a:xfrm>
            <a:off x="3328837" y="5625091"/>
            <a:ext cx="7820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You can buy up to 24 tickets during the entire Season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You can buy up to 4 extra tickets during each session (each refresh, or about </a:t>
            </a:r>
            <a:r>
              <a:rPr b="1" lang="en-US" sz="1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24</a:t>
            </a:r>
            <a:r>
              <a:rPr b="1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 hours).</a:t>
            </a:r>
            <a:endParaRPr/>
          </a:p>
        </p:txBody>
      </p:sp>
      <p:sp>
        <p:nvSpPr>
          <p:cNvPr id="204" name="Google Shape;204;g3abbcaa5d1e_0_0"/>
          <p:cNvSpPr txBox="1"/>
          <p:nvPr/>
        </p:nvSpPr>
        <p:spPr>
          <a:xfrm>
            <a:off x="1249499" y="5609703"/>
            <a:ext cx="2191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8D08C"/>
                </a:solidFill>
                <a:latin typeface="Arial"/>
                <a:ea typeface="Arial"/>
                <a:cs typeface="Arial"/>
                <a:sym typeface="Arial"/>
              </a:rPr>
              <a:t>Ticket</a:t>
            </a:r>
            <a:r>
              <a:rPr b="0" i="0" lang="en-US" sz="1600" u="none" cap="none" strike="noStrike">
                <a:solidFill>
                  <a:srgbClr val="B1DB9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Information</a:t>
            </a:r>
            <a:endParaRPr b="0" i="0" sz="16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abbcaa5d1e_0_0"/>
          <p:cNvSpPr txBox="1"/>
          <p:nvPr/>
        </p:nvSpPr>
        <p:spPr>
          <a:xfrm>
            <a:off x="1249499" y="5217117"/>
            <a:ext cx="211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8D08C"/>
                </a:solidFill>
                <a:latin typeface="Arial"/>
                <a:ea typeface="Arial"/>
                <a:cs typeface="Arial"/>
                <a:sym typeface="Arial"/>
              </a:rPr>
              <a:t>Block</a:t>
            </a:r>
            <a:r>
              <a:rPr b="0" i="0" lang="en-US" sz="16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 Information</a:t>
            </a:r>
            <a:endParaRPr b="0" i="0" sz="16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abbcaa5d1e_0_0"/>
          <p:cNvSpPr txBox="1"/>
          <p:nvPr/>
        </p:nvSpPr>
        <p:spPr>
          <a:xfrm>
            <a:off x="3320566" y="5128759"/>
            <a:ext cx="808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Start Block : 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8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,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419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,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181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 (Est. 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January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2</a:t>
            </a:r>
            <a:r>
              <a:rPr b="1" baseline="30000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nd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)    </a:t>
            </a:r>
            <a:r>
              <a:rPr b="1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End Block : 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8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,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570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,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380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 (Est.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 January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16</a:t>
            </a:r>
            <a:r>
              <a:rPr b="1" baseline="30000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th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  <a:endParaRPr/>
          </a:p>
        </p:txBody>
      </p:sp>
      <p:pic>
        <p:nvPicPr>
          <p:cNvPr id="207" name="Google Shape;207;g3abbcaa5d1e_0_0"/>
          <p:cNvPicPr preferRelativeResize="0"/>
          <p:nvPr/>
        </p:nvPicPr>
        <p:blipFill rotWithShape="1">
          <a:blip r:embed="rId5">
            <a:alphaModFix/>
          </a:blip>
          <a:srcRect b="6948" l="78937" r="11250" t="73829"/>
          <a:stretch/>
        </p:blipFill>
        <p:spPr>
          <a:xfrm flipH="1">
            <a:off x="233209" y="5228484"/>
            <a:ext cx="1375562" cy="1515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3abbcaa5d1e_0_0"/>
          <p:cNvPicPr preferRelativeResize="0"/>
          <p:nvPr/>
        </p:nvPicPr>
        <p:blipFill rotWithShape="1">
          <a:blip r:embed="rId5">
            <a:alphaModFix/>
          </a:blip>
          <a:srcRect b="6948" l="78937" r="11250" t="73829"/>
          <a:stretch/>
        </p:blipFill>
        <p:spPr>
          <a:xfrm flipH="1" rot="5400000">
            <a:off x="239561" y="53352"/>
            <a:ext cx="1375562" cy="1515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bbcaa5d1e_0_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8D08C">
              <a:alpha val="117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ebula" id="214" name="Google Shape;214;g3abbcaa5d1e_0_17"/>
          <p:cNvPicPr preferRelativeResize="0"/>
          <p:nvPr/>
        </p:nvPicPr>
        <p:blipFill rotWithShape="1">
          <a:blip r:embed="rId3">
            <a:alphaModFix/>
          </a:blip>
          <a:srcRect b="2755" l="9811" r="8087" t="1228"/>
          <a:stretch/>
        </p:blipFill>
        <p:spPr>
          <a:xfrm>
            <a:off x="-1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3abbcaa5d1e_0_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21E28">
              <a:alpha val="807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g3abbcaa5d1e_0_17"/>
          <p:cNvPicPr preferRelativeResize="0"/>
          <p:nvPr/>
        </p:nvPicPr>
        <p:blipFill rotWithShape="1">
          <a:blip r:embed="rId4">
            <a:alphaModFix/>
          </a:blip>
          <a:srcRect b="5561" l="41810" r="10753" t="6441"/>
          <a:stretch/>
        </p:blipFill>
        <p:spPr>
          <a:xfrm rot="10800000">
            <a:off x="-155576" y="-36399"/>
            <a:ext cx="12560301" cy="7032397"/>
          </a:xfrm>
          <a:prstGeom prst="rect">
            <a:avLst/>
          </a:prstGeom>
          <a:noFill/>
          <a:ln>
            <a:noFill/>
          </a:ln>
          <a:effectLst>
            <a:outerShdw blurRad="50800" sx="101000" rotWithShape="0" algn="t" dir="5400000" dist="38100" sy="101000">
              <a:srgbClr val="000000">
                <a:alpha val="47840"/>
              </a:srgbClr>
            </a:outerShdw>
          </a:effectLst>
        </p:spPr>
      </p:pic>
      <p:pic>
        <p:nvPicPr>
          <p:cNvPr id="217" name="Google Shape;217;g3abbcaa5d1e_0_17"/>
          <p:cNvPicPr preferRelativeResize="0"/>
          <p:nvPr/>
        </p:nvPicPr>
        <p:blipFill rotWithShape="1">
          <a:blip r:embed="rId5">
            <a:alphaModFix/>
          </a:blip>
          <a:srcRect b="6948" l="78937" r="11250" t="73829"/>
          <a:stretch/>
        </p:blipFill>
        <p:spPr>
          <a:xfrm>
            <a:off x="10608870" y="5266758"/>
            <a:ext cx="1375562" cy="1515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g3abbcaa5d1e_0_17"/>
          <p:cNvPicPr preferRelativeResize="0"/>
          <p:nvPr/>
        </p:nvPicPr>
        <p:blipFill rotWithShape="1">
          <a:blip r:embed="rId5">
            <a:alphaModFix/>
          </a:blip>
          <a:srcRect b="6948" l="78937" r="11250" t="73829"/>
          <a:stretch/>
        </p:blipFill>
        <p:spPr>
          <a:xfrm rot="-5400000">
            <a:off x="10615220" y="91626"/>
            <a:ext cx="1375562" cy="151574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9" name="Google Shape;219;g3abbcaa5d1e_0_17"/>
          <p:cNvGraphicFramePr/>
          <p:nvPr/>
        </p:nvGraphicFramePr>
        <p:xfrm>
          <a:off x="946150" y="133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{2A3C3C6E-FA49-44BE-9389-992C9AAB32B4}</a:tableStyleId>
              </a:tblPr>
              <a:tblGrid>
                <a:gridCol w="1107975"/>
                <a:gridCol w="970100"/>
                <a:gridCol w="804425"/>
                <a:gridCol w="1240150"/>
                <a:gridCol w="1039025"/>
                <a:gridCol w="1039025"/>
                <a:gridCol w="1039025"/>
                <a:gridCol w="1039025"/>
                <a:gridCol w="1039025"/>
                <a:gridCol w="1039025"/>
              </a:tblGrid>
              <a:tr h="642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No of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Players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Reward %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 Reward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Basic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lvl 02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lvl 03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Courage Pass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Garamond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Courage Pass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&amp;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 lvl 2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Garamond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Courage Pass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&amp;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 lvl 3</a:t>
                      </a:r>
                      <a:endParaRPr b="1" sz="11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40000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</a:t>
                      </a:r>
                      <a:endParaRPr sz="1800" u="none" cap="none" strike="noStrike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42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7,000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10,500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14,000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14,000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17,500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21,000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48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5,333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8,000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10,667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10,667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13,333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16,000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9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42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3,500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5,250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7,000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7,000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8,750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10,500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9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54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3,000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4,500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6,000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6,000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7,500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9,000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16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72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2,400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3,600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4,800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4,800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6,000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7,200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26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108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1,440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2,160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2,880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2,880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3,600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4,320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108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973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1,459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1,946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1,946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2,432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2,919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88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</a:t>
                      </a: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72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632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947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1,263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1,263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1,579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1,895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126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36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96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144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192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192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240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288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 – </a:t>
                      </a:r>
                      <a:r>
                        <a:rPr b="1" lang="en-US" sz="1200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18</a:t>
                      </a: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24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36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48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48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60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</a:rPr>
                        <a:t>72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Sum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100 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Garamond"/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</a:t>
                      </a: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00,000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0" name="Google Shape;220;g3abbcaa5d1e_0_17"/>
          <p:cNvSpPr txBox="1"/>
          <p:nvPr/>
        </p:nvSpPr>
        <p:spPr>
          <a:xfrm>
            <a:off x="2479771" y="525150"/>
            <a:ext cx="8509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lang="en-US" sz="3600">
                <a:solidFill>
                  <a:schemeClr val="lt1"/>
                </a:solidFill>
              </a:rPr>
              <a:t>Thor</a:t>
            </a: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 ] </a:t>
            </a:r>
            <a:r>
              <a:rPr b="0" i="0" lang="en-US" sz="2800" u="none" cap="none" strike="noStrike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rPr>
              <a:t>Arena Season </a:t>
            </a:r>
            <a:r>
              <a:rPr lang="en-US" sz="2800">
                <a:solidFill>
                  <a:srgbClr val="FFD966"/>
                </a:solidFill>
              </a:rPr>
              <a:t>2</a:t>
            </a:r>
            <a:r>
              <a:rPr b="0" i="0" lang="en-US" sz="4000" u="none" cap="none" strike="noStrike">
                <a:solidFill>
                  <a:srgbClr val="A8D08C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en-US" sz="28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Rewards</a:t>
            </a:r>
            <a:endParaRPr b="0" i="0" sz="28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abbcaa5d1e_0_17"/>
          <p:cNvSpPr txBox="1"/>
          <p:nvPr/>
        </p:nvSpPr>
        <p:spPr>
          <a:xfrm>
            <a:off x="3328837" y="5625091"/>
            <a:ext cx="7820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You can buy up to 24 tickets during the entire Season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You can buy up to 4 extra tickets during each session (each refresh, or about </a:t>
            </a:r>
            <a:r>
              <a:rPr b="1" lang="en-US" sz="1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24</a:t>
            </a:r>
            <a:r>
              <a:rPr b="1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 hours).</a:t>
            </a:r>
            <a:endParaRPr/>
          </a:p>
        </p:txBody>
      </p:sp>
      <p:sp>
        <p:nvSpPr>
          <p:cNvPr id="222" name="Google Shape;222;g3abbcaa5d1e_0_17"/>
          <p:cNvSpPr txBox="1"/>
          <p:nvPr/>
        </p:nvSpPr>
        <p:spPr>
          <a:xfrm>
            <a:off x="1249499" y="5609703"/>
            <a:ext cx="2191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8D08C"/>
                </a:solidFill>
                <a:latin typeface="Arial"/>
                <a:ea typeface="Arial"/>
                <a:cs typeface="Arial"/>
                <a:sym typeface="Arial"/>
              </a:rPr>
              <a:t>Ticket</a:t>
            </a:r>
            <a:r>
              <a:rPr b="0" i="0" lang="en-US" sz="1600" u="none" cap="none" strike="noStrike">
                <a:solidFill>
                  <a:srgbClr val="B1DB9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Information</a:t>
            </a:r>
            <a:endParaRPr b="0" i="0" sz="16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abbcaa5d1e_0_17"/>
          <p:cNvSpPr txBox="1"/>
          <p:nvPr/>
        </p:nvSpPr>
        <p:spPr>
          <a:xfrm>
            <a:off x="1249499" y="5217117"/>
            <a:ext cx="211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8D08C"/>
                </a:solidFill>
                <a:latin typeface="Arial"/>
                <a:ea typeface="Arial"/>
                <a:cs typeface="Arial"/>
                <a:sym typeface="Arial"/>
              </a:rPr>
              <a:t>Block</a:t>
            </a:r>
            <a:r>
              <a:rPr b="0" i="0" lang="en-US" sz="16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 Information</a:t>
            </a:r>
            <a:endParaRPr b="0" i="0" sz="16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abbcaa5d1e_0_17"/>
          <p:cNvSpPr txBox="1"/>
          <p:nvPr/>
        </p:nvSpPr>
        <p:spPr>
          <a:xfrm>
            <a:off x="3320566" y="5128759"/>
            <a:ext cx="808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Start Block : 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158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,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003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 (Est. 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January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8</a:t>
            </a:r>
            <a:r>
              <a:rPr b="1" baseline="30000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th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)    </a:t>
            </a:r>
            <a:r>
              <a:rPr b="1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End Block : 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309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,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202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 (Est.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 January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b="1" lang="en-US" sz="1600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22</a:t>
            </a:r>
            <a:r>
              <a:rPr b="1" baseline="30000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th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  <a:endParaRPr/>
          </a:p>
        </p:txBody>
      </p:sp>
      <p:pic>
        <p:nvPicPr>
          <p:cNvPr id="225" name="Google Shape;225;g3abbcaa5d1e_0_17"/>
          <p:cNvPicPr preferRelativeResize="0"/>
          <p:nvPr/>
        </p:nvPicPr>
        <p:blipFill rotWithShape="1">
          <a:blip r:embed="rId5">
            <a:alphaModFix/>
          </a:blip>
          <a:srcRect b="6948" l="78937" r="11250" t="73829"/>
          <a:stretch/>
        </p:blipFill>
        <p:spPr>
          <a:xfrm flipH="1">
            <a:off x="233209" y="5228484"/>
            <a:ext cx="1375562" cy="1515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g3abbcaa5d1e_0_17"/>
          <p:cNvPicPr preferRelativeResize="0"/>
          <p:nvPr/>
        </p:nvPicPr>
        <p:blipFill rotWithShape="1">
          <a:blip r:embed="rId5">
            <a:alphaModFix/>
          </a:blip>
          <a:srcRect b="6948" l="78937" r="11250" t="73829"/>
          <a:stretch/>
        </p:blipFill>
        <p:spPr>
          <a:xfrm flipH="1" rot="5400000">
            <a:off x="239561" y="53352"/>
            <a:ext cx="1375562" cy="1515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ebula" id="231" name="Google Shape;231;p8"/>
          <p:cNvPicPr preferRelativeResize="0"/>
          <p:nvPr/>
        </p:nvPicPr>
        <p:blipFill rotWithShape="1">
          <a:blip r:embed="rId3">
            <a:alphaModFix/>
          </a:blip>
          <a:srcRect b="2757" l="9813" r="8082" t="1227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8"/>
          <p:cNvSpPr/>
          <p:nvPr/>
        </p:nvSpPr>
        <p:spPr>
          <a:xfrm>
            <a:off x="0" y="0"/>
            <a:ext cx="12192002" cy="6858000"/>
          </a:xfrm>
          <a:prstGeom prst="rect">
            <a:avLst/>
          </a:prstGeom>
          <a:solidFill>
            <a:srgbClr val="A8D08C">
              <a:alpha val="1176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8"/>
          <p:cNvPicPr preferRelativeResize="0"/>
          <p:nvPr/>
        </p:nvPicPr>
        <p:blipFill rotWithShape="1">
          <a:blip r:embed="rId4">
            <a:alphaModFix/>
          </a:blip>
          <a:srcRect b="5555" l="41813" r="10750" t="6444"/>
          <a:stretch/>
        </p:blipFill>
        <p:spPr>
          <a:xfrm rot="-5400000">
            <a:off x="3386169" y="-2307996"/>
            <a:ext cx="6460603" cy="11473991"/>
          </a:xfrm>
          <a:prstGeom prst="rect">
            <a:avLst/>
          </a:prstGeom>
          <a:noFill/>
          <a:ln>
            <a:noFill/>
          </a:ln>
          <a:effectLst>
            <a:outerShdw blurRad="50800" sx="101000" rotWithShape="0" algn="t" dir="5400000" dist="38100" sy="101000">
              <a:srgbClr val="000000">
                <a:alpha val="47843"/>
              </a:srgbClr>
            </a:outerShdw>
          </a:effectLst>
        </p:spPr>
      </p:pic>
      <p:pic>
        <p:nvPicPr>
          <p:cNvPr id="234" name="Google Shape;234;p8"/>
          <p:cNvPicPr preferRelativeResize="0"/>
          <p:nvPr/>
        </p:nvPicPr>
        <p:blipFill rotWithShape="1">
          <a:blip r:embed="rId5">
            <a:alphaModFix/>
          </a:blip>
          <a:srcRect b="6948" l="78938" r="11250" t="73830"/>
          <a:stretch/>
        </p:blipFill>
        <p:spPr>
          <a:xfrm>
            <a:off x="10496158" y="5045227"/>
            <a:ext cx="1375560" cy="1515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8"/>
          <p:cNvPicPr preferRelativeResize="0"/>
          <p:nvPr/>
        </p:nvPicPr>
        <p:blipFill rotWithShape="1">
          <a:blip r:embed="rId5">
            <a:alphaModFix/>
          </a:blip>
          <a:srcRect b="6948" l="78938" r="11250" t="73830"/>
          <a:stretch/>
        </p:blipFill>
        <p:spPr>
          <a:xfrm rot="-5400000">
            <a:off x="10496158" y="226936"/>
            <a:ext cx="1375560" cy="151574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6" name="Google Shape;236;p8"/>
          <p:cNvGraphicFramePr/>
          <p:nvPr/>
        </p:nvGraphicFramePr>
        <p:xfrm>
          <a:off x="3262574" y="12863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{2A3C3C6E-FA49-44BE-9389-992C9AAB32B4}</a:tableStyleId>
              </a:tblPr>
              <a:tblGrid>
                <a:gridCol w="1190050"/>
                <a:gridCol w="1041950"/>
                <a:gridCol w="864000"/>
                <a:gridCol w="1332000"/>
                <a:gridCol w="1116000"/>
                <a:gridCol w="1116000"/>
                <a:gridCol w="1116000"/>
              </a:tblGrid>
              <a:tr h="506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No of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Players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Reward %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 Reward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No Pass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Adventure</a:t>
                      </a:r>
                      <a:b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</a:b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Boss Pass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Courage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Pass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1-5</a:t>
                      </a:r>
                      <a:endParaRPr sz="1800" u="none" cap="none" strike="noStrike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30,000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6 – 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24,000</a:t>
                      </a:r>
                      <a:endParaRPr sz="1800" u="none" cap="none" strike="noStrike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3,200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6,400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9,600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11 – 17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9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27,000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2,571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5,143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7,714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18 – 30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36,000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1,846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3,692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5,538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31 – 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36,000</a:t>
                      </a:r>
                      <a:endParaRPr sz="1800" u="none" cap="none" strike="noStrike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1,200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2,400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3,600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51 – 100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45,000</a:t>
                      </a:r>
                      <a:endParaRPr sz="1800" u="none" cap="none" strike="noStrike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1,200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1,800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101 – 175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45,000</a:t>
                      </a:r>
                      <a:endParaRPr sz="1800" u="none" cap="none" strike="noStrike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1,200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176 – 250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39,000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347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693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1,040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251 – 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96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501 – 1000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345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Sum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100 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300,000</a:t>
                      </a:r>
                      <a:endParaRPr sz="1800" u="none" cap="none" strike="noStrike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7" name="Google Shape;237;p8"/>
          <p:cNvSpPr txBox="1"/>
          <p:nvPr/>
        </p:nvSpPr>
        <p:spPr>
          <a:xfrm>
            <a:off x="3204127" y="516908"/>
            <a:ext cx="5133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 Odin ] </a:t>
            </a:r>
            <a:r>
              <a:rPr b="0" i="0" lang="en-US" sz="28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Arena Season 31</a:t>
            </a:r>
            <a:r>
              <a:rPr b="0" i="0" lang="en-US" sz="40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en-US" sz="28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Rewards</a:t>
            </a:r>
            <a:endParaRPr b="0" i="0" sz="28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8"/>
          <p:cNvPicPr preferRelativeResize="0"/>
          <p:nvPr/>
        </p:nvPicPr>
        <p:blipFill rotWithShape="1">
          <a:blip r:embed="rId6">
            <a:alphaModFix/>
          </a:blip>
          <a:srcRect b="8025" l="0" r="34658" t="-1"/>
          <a:stretch/>
        </p:blipFill>
        <p:spPr>
          <a:xfrm flipH="1">
            <a:off x="-1" y="106680"/>
            <a:ext cx="3369495" cy="6751320"/>
          </a:xfrm>
          <a:prstGeom prst="rect">
            <a:avLst/>
          </a:prstGeom>
          <a:noFill/>
          <a:ln>
            <a:noFill/>
          </a:ln>
          <a:effectLst>
            <a:outerShdw blurRad="457200" sx="109000" rotWithShape="0" algn="l" dist="38100" sy="109000">
              <a:srgbClr val="000000">
                <a:alpha val="43921"/>
              </a:srgbClr>
            </a:outerShdw>
          </a:effectLst>
        </p:spPr>
      </p:pic>
      <p:sp>
        <p:nvSpPr>
          <p:cNvPr id="239" name="Google Shape;239;p8"/>
          <p:cNvSpPr txBox="1"/>
          <p:nvPr/>
        </p:nvSpPr>
        <p:spPr>
          <a:xfrm>
            <a:off x="6845584" y="5362170"/>
            <a:ext cx="460664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You can buy up to 24 tickets during the entire Season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You can buy up to 4 extra tickets during each session</a:t>
            </a:r>
            <a:b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(each refresh, or about 16 hours).</a:t>
            </a:r>
            <a:endParaRPr/>
          </a:p>
        </p:txBody>
      </p:sp>
      <p:sp>
        <p:nvSpPr>
          <p:cNvPr id="240" name="Google Shape;240;p8"/>
          <p:cNvSpPr txBox="1"/>
          <p:nvPr/>
        </p:nvSpPr>
        <p:spPr>
          <a:xfrm>
            <a:off x="6845582" y="5023616"/>
            <a:ext cx="21911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Ticket</a:t>
            </a:r>
            <a:r>
              <a:rPr b="0" i="0" lang="en-US" sz="1600" u="none" cap="none" strike="noStrike">
                <a:solidFill>
                  <a:srgbClr val="B1DB9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 Information</a:t>
            </a:r>
            <a:endParaRPr b="0" i="0" sz="16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8"/>
          <p:cNvSpPr txBox="1"/>
          <p:nvPr/>
        </p:nvSpPr>
        <p:spPr>
          <a:xfrm>
            <a:off x="3204127" y="5023616"/>
            <a:ext cx="211743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Block</a:t>
            </a:r>
            <a:r>
              <a:rPr b="0" i="0" lang="en-US" sz="16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 Information</a:t>
            </a:r>
            <a:endParaRPr b="0" i="0" sz="16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8"/>
          <p:cNvSpPr txBox="1"/>
          <p:nvPr/>
        </p:nvSpPr>
        <p:spPr>
          <a:xfrm>
            <a:off x="3204127" y="5266758"/>
            <a:ext cx="3551526" cy="796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Start Block : 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14,283,104 (Est. May 4</a:t>
            </a:r>
            <a:r>
              <a:rPr b="1" baseline="30000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th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End Block : 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14,434,303 (Est. May 18</a:t>
            </a:r>
            <a:r>
              <a:rPr b="1" baseline="30000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th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ebula" id="247" name="Google Shape;247;p9"/>
          <p:cNvPicPr preferRelativeResize="0"/>
          <p:nvPr/>
        </p:nvPicPr>
        <p:blipFill rotWithShape="1">
          <a:blip r:embed="rId3">
            <a:alphaModFix/>
          </a:blip>
          <a:srcRect b="2757" l="9813" r="8082" t="1227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9"/>
          <p:cNvSpPr/>
          <p:nvPr/>
        </p:nvSpPr>
        <p:spPr>
          <a:xfrm>
            <a:off x="0" y="0"/>
            <a:ext cx="12192002" cy="6858000"/>
          </a:xfrm>
          <a:prstGeom prst="rect">
            <a:avLst/>
          </a:prstGeom>
          <a:solidFill>
            <a:srgbClr val="A8D08C">
              <a:alpha val="1176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" name="Google Shape;249;p9"/>
          <p:cNvPicPr preferRelativeResize="0"/>
          <p:nvPr/>
        </p:nvPicPr>
        <p:blipFill rotWithShape="1">
          <a:blip r:embed="rId4">
            <a:alphaModFix/>
          </a:blip>
          <a:srcRect b="5555" l="41813" r="10750" t="6444"/>
          <a:stretch/>
        </p:blipFill>
        <p:spPr>
          <a:xfrm rot="-5400000">
            <a:off x="3386169" y="-2307996"/>
            <a:ext cx="6460603" cy="11473991"/>
          </a:xfrm>
          <a:prstGeom prst="rect">
            <a:avLst/>
          </a:prstGeom>
          <a:noFill/>
          <a:ln>
            <a:noFill/>
          </a:ln>
          <a:effectLst>
            <a:outerShdw blurRad="50800" sx="101000" rotWithShape="0" algn="t" dir="5400000" dist="38100" sy="101000">
              <a:srgbClr val="000000">
                <a:alpha val="47843"/>
              </a:srgbClr>
            </a:outerShdw>
          </a:effectLst>
        </p:spPr>
      </p:pic>
      <p:pic>
        <p:nvPicPr>
          <p:cNvPr id="250" name="Google Shape;250;p9"/>
          <p:cNvPicPr preferRelativeResize="0"/>
          <p:nvPr/>
        </p:nvPicPr>
        <p:blipFill rotWithShape="1">
          <a:blip r:embed="rId5">
            <a:alphaModFix/>
          </a:blip>
          <a:srcRect b="6948" l="78938" r="11250" t="73830"/>
          <a:stretch/>
        </p:blipFill>
        <p:spPr>
          <a:xfrm>
            <a:off x="10496158" y="5045227"/>
            <a:ext cx="1375560" cy="1515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9"/>
          <p:cNvPicPr preferRelativeResize="0"/>
          <p:nvPr/>
        </p:nvPicPr>
        <p:blipFill rotWithShape="1">
          <a:blip r:embed="rId5">
            <a:alphaModFix/>
          </a:blip>
          <a:srcRect b="6948" l="78938" r="11250" t="73830"/>
          <a:stretch/>
        </p:blipFill>
        <p:spPr>
          <a:xfrm rot="-5400000">
            <a:off x="10496158" y="226936"/>
            <a:ext cx="1375560" cy="151574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2" name="Google Shape;252;p9"/>
          <p:cNvGraphicFramePr/>
          <p:nvPr/>
        </p:nvGraphicFramePr>
        <p:xfrm>
          <a:off x="3262574" y="12863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{2A3C3C6E-FA49-44BE-9389-992C9AAB32B4}</a:tableStyleId>
              </a:tblPr>
              <a:tblGrid>
                <a:gridCol w="1190050"/>
                <a:gridCol w="1041950"/>
                <a:gridCol w="864000"/>
                <a:gridCol w="1332000"/>
                <a:gridCol w="1116000"/>
                <a:gridCol w="1116000"/>
                <a:gridCol w="1116000"/>
              </a:tblGrid>
              <a:tr h="506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No of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Players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Reward %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 Reward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No Pass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Adventure</a:t>
                      </a:r>
                      <a:b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</a:b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Boss Pass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Courage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Pass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1-5</a:t>
                      </a:r>
                      <a:endParaRPr sz="1800" u="none" cap="none" strike="noStrike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30,000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6 – 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24,000</a:t>
                      </a:r>
                      <a:endParaRPr sz="1800" u="none" cap="none" strike="noStrike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3,200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6,400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9,600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11 – 17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9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27,000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2,571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5,143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7,714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18 – 30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36,000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1,846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3,692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5,538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31 – 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36,000</a:t>
                      </a:r>
                      <a:endParaRPr sz="1800" u="none" cap="none" strike="noStrike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1,200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2,400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3,600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51 – 100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45,000</a:t>
                      </a:r>
                      <a:endParaRPr sz="1800" u="none" cap="none" strike="noStrike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1,200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1,800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101 – 175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45,000</a:t>
                      </a:r>
                      <a:endParaRPr sz="1800" u="none" cap="none" strike="noStrike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1,200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176 – 250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39,000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347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693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1,040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251 – 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96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501 – 1000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345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Sum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100 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300,000</a:t>
                      </a:r>
                      <a:endParaRPr sz="1800" u="none" cap="none" strike="noStrike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3" name="Google Shape;253;p9"/>
          <p:cNvSpPr txBox="1"/>
          <p:nvPr/>
        </p:nvSpPr>
        <p:spPr>
          <a:xfrm>
            <a:off x="3204127" y="516908"/>
            <a:ext cx="618861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 Odin ] </a:t>
            </a:r>
            <a:r>
              <a:rPr b="0" i="0" lang="en-US" sz="28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Arena Championship 31</a:t>
            </a:r>
            <a:r>
              <a:rPr b="0" i="0" lang="en-US" sz="40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en-US" sz="28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Rewards</a:t>
            </a:r>
            <a:endParaRPr b="0" i="0" sz="28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p9"/>
          <p:cNvPicPr preferRelativeResize="0"/>
          <p:nvPr/>
        </p:nvPicPr>
        <p:blipFill rotWithShape="1">
          <a:blip r:embed="rId6">
            <a:alphaModFix/>
          </a:blip>
          <a:srcRect b="8025" l="0" r="34658" t="-1"/>
          <a:stretch/>
        </p:blipFill>
        <p:spPr>
          <a:xfrm flipH="1">
            <a:off x="-1" y="106680"/>
            <a:ext cx="3369495" cy="6751320"/>
          </a:xfrm>
          <a:prstGeom prst="rect">
            <a:avLst/>
          </a:prstGeom>
          <a:noFill/>
          <a:ln>
            <a:noFill/>
          </a:ln>
          <a:effectLst>
            <a:outerShdw blurRad="457200" sx="109000" rotWithShape="0" algn="l" dist="38100" sy="109000">
              <a:srgbClr val="000000">
                <a:alpha val="43921"/>
              </a:srgbClr>
            </a:outerShdw>
          </a:effectLst>
        </p:spPr>
      </p:pic>
      <p:sp>
        <p:nvSpPr>
          <p:cNvPr id="255" name="Google Shape;255;p9"/>
          <p:cNvSpPr txBox="1"/>
          <p:nvPr/>
        </p:nvSpPr>
        <p:spPr>
          <a:xfrm>
            <a:off x="6845584" y="5362170"/>
            <a:ext cx="460664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You can buy up to 24 tickets during the entire Season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You can buy up to 4 extra tickets during each session</a:t>
            </a:r>
            <a:b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(each refresh, or about 16 hours).</a:t>
            </a:r>
            <a:endParaRPr/>
          </a:p>
        </p:txBody>
      </p:sp>
      <p:sp>
        <p:nvSpPr>
          <p:cNvPr id="256" name="Google Shape;256;p9"/>
          <p:cNvSpPr txBox="1"/>
          <p:nvPr/>
        </p:nvSpPr>
        <p:spPr>
          <a:xfrm>
            <a:off x="6845582" y="5023616"/>
            <a:ext cx="21911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Ticket</a:t>
            </a:r>
            <a:r>
              <a:rPr b="0" i="0" lang="en-US" sz="1600" u="none" cap="none" strike="noStrike">
                <a:solidFill>
                  <a:srgbClr val="B1DB9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 Information</a:t>
            </a:r>
            <a:endParaRPr b="0" i="0" sz="16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9"/>
          <p:cNvSpPr txBox="1"/>
          <p:nvPr/>
        </p:nvSpPr>
        <p:spPr>
          <a:xfrm>
            <a:off x="3204127" y="5023616"/>
            <a:ext cx="211743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Block</a:t>
            </a:r>
            <a:r>
              <a:rPr b="0" i="0" lang="en-US" sz="16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 Information</a:t>
            </a:r>
            <a:endParaRPr b="0" i="0" sz="16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9"/>
          <p:cNvSpPr txBox="1"/>
          <p:nvPr/>
        </p:nvSpPr>
        <p:spPr>
          <a:xfrm>
            <a:off x="3204127" y="5266758"/>
            <a:ext cx="3551526" cy="796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Start Block : 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14,283,104 (Est. May 4</a:t>
            </a:r>
            <a:r>
              <a:rPr b="1" baseline="30000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th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End Block : 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14,434,303 (Est. May 18</a:t>
            </a:r>
            <a:r>
              <a:rPr b="1" baseline="30000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th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ebula" id="263" name="Google Shape;263;p10"/>
          <p:cNvPicPr preferRelativeResize="0"/>
          <p:nvPr/>
        </p:nvPicPr>
        <p:blipFill rotWithShape="1">
          <a:blip r:embed="rId3">
            <a:alphaModFix/>
          </a:blip>
          <a:srcRect b="2757" l="9813" r="8082" t="1227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0"/>
          <p:cNvSpPr/>
          <p:nvPr/>
        </p:nvSpPr>
        <p:spPr>
          <a:xfrm>
            <a:off x="0" y="0"/>
            <a:ext cx="12192002" cy="6858000"/>
          </a:xfrm>
          <a:prstGeom prst="rect">
            <a:avLst/>
          </a:prstGeom>
          <a:solidFill>
            <a:srgbClr val="321E28">
              <a:alpha val="8078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10"/>
          <p:cNvPicPr preferRelativeResize="0"/>
          <p:nvPr/>
        </p:nvPicPr>
        <p:blipFill rotWithShape="1">
          <a:blip r:embed="rId4">
            <a:alphaModFix/>
          </a:blip>
          <a:srcRect b="5555" l="41813" r="10750" t="6444"/>
          <a:stretch/>
        </p:blipFill>
        <p:spPr>
          <a:xfrm rot="-5400000">
            <a:off x="3386169" y="-2307996"/>
            <a:ext cx="6460603" cy="11473991"/>
          </a:xfrm>
          <a:prstGeom prst="rect">
            <a:avLst/>
          </a:prstGeom>
          <a:noFill/>
          <a:ln>
            <a:noFill/>
          </a:ln>
          <a:effectLst>
            <a:outerShdw blurRad="50800" sx="101000" rotWithShape="0" algn="t" dir="5400000" dist="38100" sy="101000">
              <a:srgbClr val="000000">
                <a:alpha val="47843"/>
              </a:srgbClr>
            </a:outerShdw>
          </a:effectLst>
        </p:spPr>
      </p:pic>
      <p:pic>
        <p:nvPicPr>
          <p:cNvPr id="266" name="Google Shape;266;p10"/>
          <p:cNvPicPr preferRelativeResize="0"/>
          <p:nvPr/>
        </p:nvPicPr>
        <p:blipFill rotWithShape="1">
          <a:blip r:embed="rId5">
            <a:alphaModFix/>
          </a:blip>
          <a:srcRect b="6948" l="78938" r="11250" t="73830"/>
          <a:stretch/>
        </p:blipFill>
        <p:spPr>
          <a:xfrm>
            <a:off x="10496158" y="5045227"/>
            <a:ext cx="1375560" cy="1515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0"/>
          <p:cNvPicPr preferRelativeResize="0"/>
          <p:nvPr/>
        </p:nvPicPr>
        <p:blipFill rotWithShape="1">
          <a:blip r:embed="rId5">
            <a:alphaModFix/>
          </a:blip>
          <a:srcRect b="6948" l="78938" r="11250" t="73830"/>
          <a:stretch/>
        </p:blipFill>
        <p:spPr>
          <a:xfrm rot="-5400000">
            <a:off x="10496158" y="226936"/>
            <a:ext cx="1375560" cy="151574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8" name="Google Shape;268;p10"/>
          <p:cNvGraphicFramePr/>
          <p:nvPr/>
        </p:nvGraphicFramePr>
        <p:xfrm>
          <a:off x="3249874" y="12863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{2A3C3C6E-FA49-44BE-9389-992C9AAB32B4}</a:tableStyleId>
              </a:tblPr>
              <a:tblGrid>
                <a:gridCol w="1190050"/>
                <a:gridCol w="1041950"/>
                <a:gridCol w="864000"/>
                <a:gridCol w="1332000"/>
                <a:gridCol w="1116000"/>
                <a:gridCol w="1116000"/>
                <a:gridCol w="1116000"/>
              </a:tblGrid>
              <a:tr h="506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No of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Players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Reward %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 Reward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No Pass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Level 02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Level 03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1-5</a:t>
                      </a:r>
                      <a:endParaRPr sz="1800" u="none" cap="none" strike="noStrike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28,000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1,867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3,733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5,600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6 – 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22,000</a:t>
                      </a:r>
                      <a:endParaRPr sz="1800" u="none" cap="none" strike="noStrike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1,467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2,933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4,400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11 – 17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22,000</a:t>
                      </a:r>
                      <a:endParaRPr sz="1800" u="none" cap="none" strike="noStrike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1,048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2,095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3,143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18 – 30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13 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20,000</a:t>
                      </a:r>
                      <a:endParaRPr sz="1800" u="none" cap="none" strike="noStrike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513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1,026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1,538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31 – 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20,000</a:t>
                      </a:r>
                      <a:endParaRPr sz="1800" u="none" cap="none" strike="noStrike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51 – 100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28,000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187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373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560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101 – 175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24,000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213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320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176 – 250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22,000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98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196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293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251 – 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8,000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11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501 – 1000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   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6,000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345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Sum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100 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200,000</a:t>
                      </a:r>
                      <a:endParaRPr sz="1800" u="none" cap="none" strike="noStrike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9" name="Google Shape;269;p10"/>
          <p:cNvSpPr txBox="1"/>
          <p:nvPr/>
        </p:nvSpPr>
        <p:spPr>
          <a:xfrm>
            <a:off x="3191427" y="516908"/>
            <a:ext cx="576542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 Heimdall ] </a:t>
            </a:r>
            <a:r>
              <a:rPr b="0" i="0" lang="en-US" sz="2800" u="none" cap="none" strike="noStrike">
                <a:solidFill>
                  <a:srgbClr val="B1DB94"/>
                </a:solidFill>
                <a:latin typeface="Arial"/>
                <a:ea typeface="Arial"/>
                <a:cs typeface="Arial"/>
                <a:sym typeface="Arial"/>
              </a:rPr>
              <a:t>Arena Season</a:t>
            </a:r>
            <a:r>
              <a:rPr b="0" i="0" lang="en-US" sz="4000" u="none" cap="none" strike="noStrike">
                <a:solidFill>
                  <a:srgbClr val="B1DB9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B1DB94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b="0" i="0" lang="en-US" sz="4000" u="none" cap="none" strike="noStrike">
                <a:solidFill>
                  <a:srgbClr val="B1DB9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Rewards</a:t>
            </a:r>
            <a:endParaRPr b="0" i="0" sz="28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0" name="Google Shape;270;p10"/>
          <p:cNvPicPr preferRelativeResize="0"/>
          <p:nvPr/>
        </p:nvPicPr>
        <p:blipFill rotWithShape="1">
          <a:blip r:embed="rId6">
            <a:alphaModFix/>
          </a:blip>
          <a:srcRect b="8025" l="0" r="34658" t="-1"/>
          <a:stretch/>
        </p:blipFill>
        <p:spPr>
          <a:xfrm flipH="1">
            <a:off x="-1" y="106680"/>
            <a:ext cx="3369495" cy="6751320"/>
          </a:xfrm>
          <a:prstGeom prst="rect">
            <a:avLst/>
          </a:prstGeom>
          <a:noFill/>
          <a:ln>
            <a:noFill/>
          </a:ln>
          <a:effectLst>
            <a:outerShdw blurRad="457200" sx="109000" rotWithShape="0" algn="l" dist="38100" sy="109000">
              <a:srgbClr val="000000">
                <a:alpha val="43921"/>
              </a:srgbClr>
            </a:outerShdw>
          </a:effectLst>
        </p:spPr>
      </p:pic>
      <p:sp>
        <p:nvSpPr>
          <p:cNvPr id="271" name="Google Shape;271;p10"/>
          <p:cNvSpPr txBox="1"/>
          <p:nvPr/>
        </p:nvSpPr>
        <p:spPr>
          <a:xfrm>
            <a:off x="6832884" y="5362170"/>
            <a:ext cx="460664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You can buy up to 24 tickets during the entire Season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You can buy up to 4 extra tickets during each session</a:t>
            </a:r>
            <a:b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(each refresh, or about 16 hours).</a:t>
            </a:r>
            <a:endParaRPr/>
          </a:p>
        </p:txBody>
      </p:sp>
      <p:sp>
        <p:nvSpPr>
          <p:cNvPr id="272" name="Google Shape;272;p10"/>
          <p:cNvSpPr txBox="1"/>
          <p:nvPr/>
        </p:nvSpPr>
        <p:spPr>
          <a:xfrm>
            <a:off x="6832882" y="5023616"/>
            <a:ext cx="21911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B1DB94"/>
                </a:solidFill>
                <a:latin typeface="Arial"/>
                <a:ea typeface="Arial"/>
                <a:cs typeface="Arial"/>
                <a:sym typeface="Arial"/>
              </a:rPr>
              <a:t>Ticket </a:t>
            </a:r>
            <a:r>
              <a:rPr b="0" i="0" lang="en-US" sz="16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 Information</a:t>
            </a:r>
            <a:endParaRPr b="0" i="0" sz="16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0"/>
          <p:cNvSpPr txBox="1"/>
          <p:nvPr/>
        </p:nvSpPr>
        <p:spPr>
          <a:xfrm>
            <a:off x="3191427" y="5023616"/>
            <a:ext cx="211743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B1DB94"/>
                </a:solidFill>
                <a:latin typeface="Arial"/>
                <a:ea typeface="Arial"/>
                <a:cs typeface="Arial"/>
                <a:sym typeface="Arial"/>
              </a:rPr>
              <a:t>Block</a:t>
            </a:r>
            <a:r>
              <a:rPr b="0" i="0" lang="en-US" sz="16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 Information</a:t>
            </a:r>
            <a:endParaRPr b="0" i="0" sz="16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0"/>
          <p:cNvSpPr txBox="1"/>
          <p:nvPr/>
        </p:nvSpPr>
        <p:spPr>
          <a:xfrm>
            <a:off x="3191427" y="5266758"/>
            <a:ext cx="3551526" cy="796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Start Block : 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5,511,821 (Est. Apr 7</a:t>
            </a:r>
            <a:r>
              <a:rPr b="1" baseline="30000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th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End Block : 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5,663,020 (Est. Apr 21</a:t>
            </a:r>
            <a:r>
              <a:rPr b="1" baseline="30000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st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ebula" id="279" name="Google Shape;279;p11"/>
          <p:cNvPicPr preferRelativeResize="0"/>
          <p:nvPr/>
        </p:nvPicPr>
        <p:blipFill rotWithShape="1">
          <a:blip r:embed="rId3">
            <a:alphaModFix/>
          </a:blip>
          <a:srcRect b="2757" l="9813" r="8082" t="1227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1"/>
          <p:cNvSpPr/>
          <p:nvPr/>
        </p:nvSpPr>
        <p:spPr>
          <a:xfrm>
            <a:off x="0" y="0"/>
            <a:ext cx="12192002" cy="6858000"/>
          </a:xfrm>
          <a:prstGeom prst="rect">
            <a:avLst/>
          </a:prstGeom>
          <a:solidFill>
            <a:srgbClr val="321E28">
              <a:alpha val="8078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11"/>
          <p:cNvPicPr preferRelativeResize="0"/>
          <p:nvPr/>
        </p:nvPicPr>
        <p:blipFill rotWithShape="1">
          <a:blip r:embed="rId4">
            <a:alphaModFix/>
          </a:blip>
          <a:srcRect b="5555" l="41813" r="10750" t="6444"/>
          <a:stretch/>
        </p:blipFill>
        <p:spPr>
          <a:xfrm rot="-5400000">
            <a:off x="3386169" y="-2307996"/>
            <a:ext cx="6460603" cy="11473991"/>
          </a:xfrm>
          <a:prstGeom prst="rect">
            <a:avLst/>
          </a:prstGeom>
          <a:noFill/>
          <a:ln>
            <a:noFill/>
          </a:ln>
          <a:effectLst>
            <a:outerShdw blurRad="50800" sx="101000" rotWithShape="0" algn="t" dir="5400000" dist="38100" sy="101000">
              <a:srgbClr val="000000">
                <a:alpha val="47843"/>
              </a:srgbClr>
            </a:outerShdw>
          </a:effectLst>
        </p:spPr>
      </p:pic>
      <p:pic>
        <p:nvPicPr>
          <p:cNvPr id="282" name="Google Shape;282;p11"/>
          <p:cNvPicPr preferRelativeResize="0"/>
          <p:nvPr/>
        </p:nvPicPr>
        <p:blipFill rotWithShape="1">
          <a:blip r:embed="rId5">
            <a:alphaModFix/>
          </a:blip>
          <a:srcRect b="6948" l="78938" r="11250" t="73830"/>
          <a:stretch/>
        </p:blipFill>
        <p:spPr>
          <a:xfrm>
            <a:off x="10496158" y="5045227"/>
            <a:ext cx="1375560" cy="1515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1"/>
          <p:cNvPicPr preferRelativeResize="0"/>
          <p:nvPr/>
        </p:nvPicPr>
        <p:blipFill rotWithShape="1">
          <a:blip r:embed="rId5">
            <a:alphaModFix/>
          </a:blip>
          <a:srcRect b="6948" l="78938" r="11250" t="73830"/>
          <a:stretch/>
        </p:blipFill>
        <p:spPr>
          <a:xfrm rot="-5400000">
            <a:off x="10496158" y="226936"/>
            <a:ext cx="1375560" cy="151574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4" name="Google Shape;284;p11"/>
          <p:cNvGraphicFramePr/>
          <p:nvPr/>
        </p:nvGraphicFramePr>
        <p:xfrm>
          <a:off x="3249874" y="12863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{2A3C3C6E-FA49-44BE-9389-992C9AAB32B4}</a:tableStyleId>
              </a:tblPr>
              <a:tblGrid>
                <a:gridCol w="1190050"/>
                <a:gridCol w="1041950"/>
                <a:gridCol w="864000"/>
                <a:gridCol w="1332000"/>
                <a:gridCol w="1116000"/>
                <a:gridCol w="1116000"/>
                <a:gridCol w="1116000"/>
              </a:tblGrid>
              <a:tr h="506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No of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Players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Reward %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 Reward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No Pass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Level 02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Level 03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1-5</a:t>
                      </a:r>
                      <a:endParaRPr sz="1800" u="none" cap="none" strike="noStrike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28,000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1,867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3,733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5,600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6 – 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22,000</a:t>
                      </a:r>
                      <a:endParaRPr sz="1800" u="none" cap="none" strike="noStrike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1,467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2,933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4,400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11 – 17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22,000</a:t>
                      </a:r>
                      <a:endParaRPr sz="1800" u="none" cap="none" strike="noStrike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1,048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2,095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3,143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18 – 30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13 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20,000</a:t>
                      </a:r>
                      <a:endParaRPr sz="1800" u="none" cap="none" strike="noStrike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513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1,026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1,538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31 – 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20,000</a:t>
                      </a:r>
                      <a:endParaRPr sz="1800" u="none" cap="none" strike="noStrike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51 – 100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28,000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187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373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560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101 – 175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24,000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213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Garamon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320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176 – 250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22,000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98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196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293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251 – 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8,000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11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501 – 1000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   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6,000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345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Sum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100 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200,000</a:t>
                      </a:r>
                      <a:endParaRPr sz="1800" u="none" cap="none" strike="noStrike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5" name="Google Shape;285;p11"/>
          <p:cNvSpPr txBox="1"/>
          <p:nvPr/>
        </p:nvSpPr>
        <p:spPr>
          <a:xfrm>
            <a:off x="3191427" y="516908"/>
            <a:ext cx="705103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 Heimdall ] </a:t>
            </a:r>
            <a:r>
              <a:rPr b="0" i="0" lang="en-US" sz="2800" u="none" cap="none" strike="noStrike">
                <a:solidFill>
                  <a:srgbClr val="B1DB94"/>
                </a:solidFill>
                <a:latin typeface="Arial"/>
                <a:ea typeface="Arial"/>
                <a:cs typeface="Arial"/>
                <a:sym typeface="Arial"/>
              </a:rPr>
              <a:t>Arena Championship 13</a:t>
            </a:r>
            <a:r>
              <a:rPr b="0" i="0" lang="en-US" sz="4000" u="none" cap="none" strike="noStrike">
                <a:solidFill>
                  <a:srgbClr val="B1DB9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Rewards</a:t>
            </a:r>
            <a:endParaRPr b="0" i="0" sz="28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11"/>
          <p:cNvPicPr preferRelativeResize="0"/>
          <p:nvPr/>
        </p:nvPicPr>
        <p:blipFill rotWithShape="1">
          <a:blip r:embed="rId6">
            <a:alphaModFix/>
          </a:blip>
          <a:srcRect b="8025" l="0" r="34658" t="-1"/>
          <a:stretch/>
        </p:blipFill>
        <p:spPr>
          <a:xfrm flipH="1">
            <a:off x="-1" y="106680"/>
            <a:ext cx="3369495" cy="6751320"/>
          </a:xfrm>
          <a:prstGeom prst="rect">
            <a:avLst/>
          </a:prstGeom>
          <a:noFill/>
          <a:ln>
            <a:noFill/>
          </a:ln>
          <a:effectLst>
            <a:outerShdw blurRad="457200" sx="109000" rotWithShape="0" algn="l" dist="38100" sy="109000">
              <a:srgbClr val="000000">
                <a:alpha val="43921"/>
              </a:srgbClr>
            </a:outerShdw>
          </a:effectLst>
        </p:spPr>
      </p:pic>
      <p:sp>
        <p:nvSpPr>
          <p:cNvPr id="287" name="Google Shape;287;p11"/>
          <p:cNvSpPr txBox="1"/>
          <p:nvPr/>
        </p:nvSpPr>
        <p:spPr>
          <a:xfrm>
            <a:off x="6832884" y="5362170"/>
            <a:ext cx="460664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You can buy up to 24 tickets during the entire Season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You can buy up to 4 extra tickets during each session</a:t>
            </a:r>
            <a:b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(each refresh, or about 16 hours).</a:t>
            </a:r>
            <a:endParaRPr/>
          </a:p>
        </p:txBody>
      </p:sp>
      <p:sp>
        <p:nvSpPr>
          <p:cNvPr id="288" name="Google Shape;288;p11"/>
          <p:cNvSpPr txBox="1"/>
          <p:nvPr/>
        </p:nvSpPr>
        <p:spPr>
          <a:xfrm>
            <a:off x="6832882" y="5023616"/>
            <a:ext cx="21911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B1DB94"/>
                </a:solidFill>
                <a:latin typeface="Arial"/>
                <a:ea typeface="Arial"/>
                <a:cs typeface="Arial"/>
                <a:sym typeface="Arial"/>
              </a:rPr>
              <a:t>Ticket </a:t>
            </a:r>
            <a:r>
              <a:rPr b="0" i="0" lang="en-US" sz="16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 Information</a:t>
            </a:r>
            <a:endParaRPr b="0" i="0" sz="16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1"/>
          <p:cNvSpPr txBox="1"/>
          <p:nvPr/>
        </p:nvSpPr>
        <p:spPr>
          <a:xfrm>
            <a:off x="3191427" y="5023616"/>
            <a:ext cx="211743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B1DB94"/>
                </a:solidFill>
                <a:latin typeface="Arial"/>
                <a:ea typeface="Arial"/>
                <a:cs typeface="Arial"/>
                <a:sym typeface="Arial"/>
              </a:rPr>
              <a:t>Block</a:t>
            </a:r>
            <a:r>
              <a:rPr b="0" i="0" lang="en-US" sz="16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 Information</a:t>
            </a:r>
            <a:endParaRPr b="0" i="0" sz="16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1"/>
          <p:cNvSpPr txBox="1"/>
          <p:nvPr/>
        </p:nvSpPr>
        <p:spPr>
          <a:xfrm>
            <a:off x="3191427" y="5266758"/>
            <a:ext cx="3551526" cy="796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Start Block : 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5,511,821 (Est. Apr 7</a:t>
            </a:r>
            <a:r>
              <a:rPr b="1" baseline="30000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th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End Block : 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5,663,020 (Est. Apr 21</a:t>
            </a:r>
            <a:r>
              <a:rPr b="1" baseline="30000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st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ebula" id="295" name="Google Shape;295;p12"/>
          <p:cNvPicPr preferRelativeResize="0"/>
          <p:nvPr/>
        </p:nvPicPr>
        <p:blipFill rotWithShape="1">
          <a:blip r:embed="rId3">
            <a:alphaModFix/>
          </a:blip>
          <a:srcRect b="2757" l="9813" r="8082" t="1227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2"/>
          <p:cNvSpPr/>
          <p:nvPr/>
        </p:nvSpPr>
        <p:spPr>
          <a:xfrm>
            <a:off x="0" y="0"/>
            <a:ext cx="12192002" cy="6858000"/>
          </a:xfrm>
          <a:prstGeom prst="rect">
            <a:avLst/>
          </a:prstGeom>
          <a:solidFill>
            <a:srgbClr val="6E7EF2">
              <a:alpha val="3882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7" name="Google Shape;297;p12"/>
          <p:cNvPicPr preferRelativeResize="0"/>
          <p:nvPr/>
        </p:nvPicPr>
        <p:blipFill rotWithShape="1">
          <a:blip r:embed="rId4">
            <a:alphaModFix/>
          </a:blip>
          <a:srcRect b="5555" l="41813" r="10750" t="6444"/>
          <a:stretch/>
        </p:blipFill>
        <p:spPr>
          <a:xfrm rot="-5400000">
            <a:off x="3386169" y="-2307996"/>
            <a:ext cx="6460603" cy="11473991"/>
          </a:xfrm>
          <a:prstGeom prst="rect">
            <a:avLst/>
          </a:prstGeom>
          <a:noFill/>
          <a:ln>
            <a:noFill/>
          </a:ln>
          <a:effectLst>
            <a:outerShdw blurRad="50800" sx="101000" rotWithShape="0" algn="t" dir="5400000" dist="38100" sy="101000">
              <a:srgbClr val="000000">
                <a:alpha val="47843"/>
              </a:srgbClr>
            </a:outerShdw>
          </a:effectLst>
        </p:spPr>
      </p:pic>
      <p:pic>
        <p:nvPicPr>
          <p:cNvPr id="298" name="Google Shape;298;p12"/>
          <p:cNvPicPr preferRelativeResize="0"/>
          <p:nvPr/>
        </p:nvPicPr>
        <p:blipFill rotWithShape="1">
          <a:blip r:embed="rId5">
            <a:alphaModFix/>
          </a:blip>
          <a:srcRect b="6948" l="78938" r="11250" t="73830"/>
          <a:stretch/>
        </p:blipFill>
        <p:spPr>
          <a:xfrm>
            <a:off x="10496158" y="5045227"/>
            <a:ext cx="1375560" cy="1515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2"/>
          <p:cNvPicPr preferRelativeResize="0"/>
          <p:nvPr/>
        </p:nvPicPr>
        <p:blipFill rotWithShape="1">
          <a:blip r:embed="rId5">
            <a:alphaModFix/>
          </a:blip>
          <a:srcRect b="6948" l="78938" r="11250" t="73830"/>
          <a:stretch/>
        </p:blipFill>
        <p:spPr>
          <a:xfrm rot="-5400000">
            <a:off x="10496158" y="226936"/>
            <a:ext cx="1375560" cy="151574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0" name="Google Shape;300;p12"/>
          <p:cNvGraphicFramePr/>
          <p:nvPr/>
        </p:nvGraphicFramePr>
        <p:xfrm>
          <a:off x="3122874" y="12863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{2A3C3C6E-FA49-44BE-9389-992C9AAB32B4}</a:tableStyleId>
              </a:tblPr>
              <a:tblGrid>
                <a:gridCol w="1190050"/>
                <a:gridCol w="1041950"/>
                <a:gridCol w="864000"/>
                <a:gridCol w="1332000"/>
                <a:gridCol w="1116000"/>
                <a:gridCol w="1116000"/>
                <a:gridCol w="1116000"/>
              </a:tblGrid>
              <a:tr h="506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No of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Players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Reward %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 Reward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No Staking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Level 02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Level 03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1-5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70,000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4,667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9,333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14,000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6 – 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55,000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3,667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7,333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11,000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11 – 17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55,000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2,619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5,238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7,857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18 – 30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13 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50,000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1,282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2,564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3,846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31 – 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50,000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1,667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51 – 100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70,000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933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1,400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101 – 175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60,000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176 – 250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55,000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244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489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251 – 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20,000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501 – 1000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   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15,000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62745"/>
                      </a:srgbClr>
                    </a:solidFill>
                  </a:tcPr>
                </a:tc>
              </a:tr>
              <a:tr h="345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Sum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100 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500,000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1" name="Google Shape;301;p12"/>
          <p:cNvSpPr txBox="1"/>
          <p:nvPr/>
        </p:nvSpPr>
        <p:spPr>
          <a:xfrm>
            <a:off x="3064427" y="516908"/>
            <a:ext cx="621311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 Thor ] </a:t>
            </a:r>
            <a:r>
              <a:rPr b="0" i="0" lang="en-US" sz="2800" u="none" cap="none" strike="noStrike">
                <a:solidFill>
                  <a:srgbClr val="8DA9DB"/>
                </a:solidFill>
                <a:latin typeface="Arial"/>
                <a:ea typeface="Arial"/>
                <a:cs typeface="Arial"/>
                <a:sym typeface="Arial"/>
              </a:rPr>
              <a:t>Arena Season </a:t>
            </a:r>
            <a:r>
              <a:rPr b="0" i="0" lang="en-US" sz="4000" u="none" cap="none" strike="noStrike">
                <a:solidFill>
                  <a:srgbClr val="8DA9D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r>
              <a:rPr b="0" i="0" lang="en-US" sz="2800" u="none" cap="none" strike="noStrike">
                <a:solidFill>
                  <a:srgbClr val="8DA9D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Rewards</a:t>
            </a:r>
            <a:endParaRPr b="0" i="0" sz="28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2" name="Google Shape;302;p12"/>
          <p:cNvPicPr preferRelativeResize="0"/>
          <p:nvPr/>
        </p:nvPicPr>
        <p:blipFill rotWithShape="1">
          <a:blip r:embed="rId6">
            <a:alphaModFix/>
          </a:blip>
          <a:srcRect b="8025" l="0" r="34658" t="-1"/>
          <a:stretch/>
        </p:blipFill>
        <p:spPr>
          <a:xfrm flipH="1">
            <a:off x="-1" y="106680"/>
            <a:ext cx="3369495" cy="6751320"/>
          </a:xfrm>
          <a:prstGeom prst="rect">
            <a:avLst/>
          </a:prstGeom>
          <a:noFill/>
          <a:ln>
            <a:noFill/>
          </a:ln>
          <a:effectLst>
            <a:outerShdw blurRad="457200" sx="109000" rotWithShape="0" algn="l" dist="38100" sy="109000">
              <a:srgbClr val="000000">
                <a:alpha val="43921"/>
              </a:srgbClr>
            </a:outerShdw>
          </a:effectLst>
        </p:spPr>
      </p:pic>
      <p:sp>
        <p:nvSpPr>
          <p:cNvPr id="303" name="Google Shape;303;p12"/>
          <p:cNvSpPr txBox="1"/>
          <p:nvPr/>
        </p:nvSpPr>
        <p:spPr>
          <a:xfrm>
            <a:off x="6705884" y="5362170"/>
            <a:ext cx="460664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You can buy up to 24 tickets during the entire Season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You can buy up to 4 extra tickets during each session</a:t>
            </a:r>
            <a:b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(each refresh, or about 16 hours).</a:t>
            </a:r>
            <a:endParaRPr/>
          </a:p>
        </p:txBody>
      </p:sp>
      <p:sp>
        <p:nvSpPr>
          <p:cNvPr id="304" name="Google Shape;304;p12"/>
          <p:cNvSpPr txBox="1"/>
          <p:nvPr/>
        </p:nvSpPr>
        <p:spPr>
          <a:xfrm>
            <a:off x="6705882" y="5023616"/>
            <a:ext cx="21911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DA9DB"/>
                </a:solidFill>
                <a:latin typeface="Arial"/>
                <a:ea typeface="Arial"/>
                <a:cs typeface="Arial"/>
                <a:sym typeface="Arial"/>
              </a:rPr>
              <a:t>Ticket</a:t>
            </a:r>
            <a:r>
              <a:rPr b="0" i="0" lang="en-US" sz="1600" u="none" cap="none" strike="noStrike">
                <a:solidFill>
                  <a:srgbClr val="B1DB9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 Information</a:t>
            </a:r>
            <a:endParaRPr b="0" i="0" sz="16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2"/>
          <p:cNvSpPr txBox="1"/>
          <p:nvPr/>
        </p:nvSpPr>
        <p:spPr>
          <a:xfrm>
            <a:off x="3064427" y="5023616"/>
            <a:ext cx="211743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DA9DB"/>
                </a:solidFill>
                <a:latin typeface="Arial"/>
                <a:ea typeface="Arial"/>
                <a:cs typeface="Arial"/>
                <a:sym typeface="Arial"/>
              </a:rPr>
              <a:t>Block</a:t>
            </a:r>
            <a:r>
              <a:rPr b="0" i="0" lang="en-US" sz="16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 Information</a:t>
            </a:r>
            <a:endParaRPr b="0" i="0" sz="16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2"/>
          <p:cNvSpPr txBox="1"/>
          <p:nvPr/>
        </p:nvSpPr>
        <p:spPr>
          <a:xfrm>
            <a:off x="3064427" y="5266758"/>
            <a:ext cx="3551526" cy="796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Start Block : 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872,758 (Est. Feb 17</a:t>
            </a:r>
            <a:r>
              <a:rPr b="1" baseline="30000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th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End Block : 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1,023,958 (Est. Mar 3</a:t>
            </a:r>
            <a:r>
              <a:rPr b="1" baseline="30000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rd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ebula" id="311" name="Google Shape;311;p13"/>
          <p:cNvPicPr preferRelativeResize="0"/>
          <p:nvPr/>
        </p:nvPicPr>
        <p:blipFill rotWithShape="1">
          <a:blip r:embed="rId3">
            <a:alphaModFix/>
          </a:blip>
          <a:srcRect b="2757" l="9813" r="8082" t="1227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3"/>
          <p:cNvSpPr/>
          <p:nvPr/>
        </p:nvSpPr>
        <p:spPr>
          <a:xfrm>
            <a:off x="0" y="0"/>
            <a:ext cx="12192002" cy="6858000"/>
          </a:xfrm>
          <a:prstGeom prst="rect">
            <a:avLst/>
          </a:prstGeom>
          <a:solidFill>
            <a:srgbClr val="321E28">
              <a:alpha val="8078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3" name="Google Shape;313;p13"/>
          <p:cNvPicPr preferRelativeResize="0"/>
          <p:nvPr/>
        </p:nvPicPr>
        <p:blipFill rotWithShape="1">
          <a:blip r:embed="rId4">
            <a:alphaModFix/>
          </a:blip>
          <a:srcRect b="5555" l="41813" r="10750" t="6444"/>
          <a:stretch/>
        </p:blipFill>
        <p:spPr>
          <a:xfrm rot="-5400000">
            <a:off x="3386169" y="-2307996"/>
            <a:ext cx="6460603" cy="11473991"/>
          </a:xfrm>
          <a:prstGeom prst="rect">
            <a:avLst/>
          </a:prstGeom>
          <a:noFill/>
          <a:ln>
            <a:noFill/>
          </a:ln>
          <a:effectLst>
            <a:outerShdw blurRad="50800" sx="101000" rotWithShape="0" algn="t" dir="5400000" dist="38100" sy="101000">
              <a:srgbClr val="000000">
                <a:alpha val="47843"/>
              </a:srgbClr>
            </a:outerShdw>
          </a:effectLst>
        </p:spPr>
      </p:pic>
      <p:pic>
        <p:nvPicPr>
          <p:cNvPr id="314" name="Google Shape;314;p13"/>
          <p:cNvPicPr preferRelativeResize="0"/>
          <p:nvPr/>
        </p:nvPicPr>
        <p:blipFill rotWithShape="1">
          <a:blip r:embed="rId5">
            <a:alphaModFix/>
          </a:blip>
          <a:srcRect b="6948" l="78938" r="11250" t="73830"/>
          <a:stretch/>
        </p:blipFill>
        <p:spPr>
          <a:xfrm>
            <a:off x="10496158" y="5045227"/>
            <a:ext cx="1375560" cy="1515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13"/>
          <p:cNvPicPr preferRelativeResize="0"/>
          <p:nvPr/>
        </p:nvPicPr>
        <p:blipFill rotWithShape="1">
          <a:blip r:embed="rId5">
            <a:alphaModFix/>
          </a:blip>
          <a:srcRect b="6948" l="78938" r="11250" t="73830"/>
          <a:stretch/>
        </p:blipFill>
        <p:spPr>
          <a:xfrm rot="-5400000">
            <a:off x="10496158" y="226936"/>
            <a:ext cx="1375560" cy="151574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6" name="Google Shape;316;p13"/>
          <p:cNvGraphicFramePr/>
          <p:nvPr/>
        </p:nvGraphicFramePr>
        <p:xfrm>
          <a:off x="3122874" y="12863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{2A3C3C6E-FA49-44BE-9389-992C9AAB32B4}</a:tableStyleId>
              </a:tblPr>
              <a:tblGrid>
                <a:gridCol w="1190050"/>
                <a:gridCol w="1041950"/>
                <a:gridCol w="864000"/>
                <a:gridCol w="1332000"/>
                <a:gridCol w="1116000"/>
                <a:gridCol w="1116000"/>
                <a:gridCol w="1116000"/>
              </a:tblGrid>
              <a:tr h="506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No of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Players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Reward %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 Reward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No Staking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Level 02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Level 03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1-5</a:t>
                      </a:r>
                      <a:endParaRPr sz="1800" u="none" cap="none" strike="noStrike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56,000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3,733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7,467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11,200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6 – 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44,000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2,933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5,867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8,800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11 – 17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44,000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2,095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4,190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6,286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18 – 30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13 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40,000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1,026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2,051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3,077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31 – 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40,000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1,333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51 – 100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56,000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373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747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1,120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101 – 175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48,000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213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427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640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176 – 250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44,000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196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391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587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251 – 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16,000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501 – 1000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   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345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Sum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100 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400,000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7" name="Google Shape;317;p13"/>
          <p:cNvSpPr txBox="1"/>
          <p:nvPr/>
        </p:nvSpPr>
        <p:spPr>
          <a:xfrm>
            <a:off x="3064427" y="516908"/>
            <a:ext cx="662514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 Heimdall ] </a:t>
            </a:r>
            <a:r>
              <a:rPr b="0" i="0" lang="en-US" sz="2800" u="none" cap="none" strike="noStrike">
                <a:solidFill>
                  <a:srgbClr val="B1DB94"/>
                </a:solidFill>
                <a:latin typeface="Arial"/>
                <a:ea typeface="Arial"/>
                <a:cs typeface="Arial"/>
                <a:sym typeface="Arial"/>
              </a:rPr>
              <a:t>Arena Season</a:t>
            </a:r>
            <a:r>
              <a:rPr b="0" i="0" lang="en-US" sz="4000" u="none" cap="none" strike="noStrike">
                <a:solidFill>
                  <a:srgbClr val="B1DB94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r>
              <a:rPr b="0" i="0" lang="en-US" sz="28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 Rewards</a:t>
            </a:r>
            <a:endParaRPr b="0" i="0" sz="28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13"/>
          <p:cNvPicPr preferRelativeResize="0"/>
          <p:nvPr/>
        </p:nvPicPr>
        <p:blipFill rotWithShape="1">
          <a:blip r:embed="rId6">
            <a:alphaModFix/>
          </a:blip>
          <a:srcRect b="8025" l="0" r="34658" t="-1"/>
          <a:stretch/>
        </p:blipFill>
        <p:spPr>
          <a:xfrm flipH="1">
            <a:off x="-1" y="106680"/>
            <a:ext cx="3369495" cy="6751320"/>
          </a:xfrm>
          <a:prstGeom prst="rect">
            <a:avLst/>
          </a:prstGeom>
          <a:noFill/>
          <a:ln>
            <a:noFill/>
          </a:ln>
          <a:effectLst>
            <a:outerShdw blurRad="457200" sx="109000" rotWithShape="0" algn="l" dist="38100" sy="109000">
              <a:srgbClr val="000000">
                <a:alpha val="43921"/>
              </a:srgbClr>
            </a:outerShdw>
          </a:effectLst>
        </p:spPr>
      </p:pic>
      <p:sp>
        <p:nvSpPr>
          <p:cNvPr id="319" name="Google Shape;319;p13"/>
          <p:cNvSpPr txBox="1"/>
          <p:nvPr/>
        </p:nvSpPr>
        <p:spPr>
          <a:xfrm>
            <a:off x="6705884" y="5362170"/>
            <a:ext cx="460664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You can buy up to 40 tickets during the entire Season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You can buy up to 8 extra tickets during each session</a:t>
            </a:r>
            <a:b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(each refresh, or about 16 hours).</a:t>
            </a:r>
            <a:endParaRPr/>
          </a:p>
        </p:txBody>
      </p:sp>
      <p:sp>
        <p:nvSpPr>
          <p:cNvPr id="320" name="Google Shape;320;p13"/>
          <p:cNvSpPr txBox="1"/>
          <p:nvPr/>
        </p:nvSpPr>
        <p:spPr>
          <a:xfrm>
            <a:off x="6705882" y="5023616"/>
            <a:ext cx="21911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B1DB94"/>
                </a:solidFill>
                <a:latin typeface="Arial"/>
                <a:ea typeface="Arial"/>
                <a:cs typeface="Arial"/>
                <a:sym typeface="Arial"/>
              </a:rPr>
              <a:t>Ticket </a:t>
            </a:r>
            <a:r>
              <a:rPr b="0" i="0" lang="en-US" sz="16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 Information</a:t>
            </a:r>
            <a:endParaRPr b="0" i="0" sz="16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3"/>
          <p:cNvSpPr txBox="1"/>
          <p:nvPr/>
        </p:nvSpPr>
        <p:spPr>
          <a:xfrm>
            <a:off x="3064427" y="5023616"/>
            <a:ext cx="211743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B1DB94"/>
                </a:solidFill>
                <a:latin typeface="Arial"/>
                <a:ea typeface="Arial"/>
                <a:cs typeface="Arial"/>
                <a:sym typeface="Arial"/>
              </a:rPr>
              <a:t>Block</a:t>
            </a:r>
            <a:r>
              <a:rPr b="0" i="0" lang="en-US" sz="16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 Information</a:t>
            </a:r>
            <a:endParaRPr b="0" i="0" sz="16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3"/>
          <p:cNvSpPr txBox="1"/>
          <p:nvPr/>
        </p:nvSpPr>
        <p:spPr>
          <a:xfrm>
            <a:off x="3064427" y="5266758"/>
            <a:ext cx="3551526" cy="796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Start Block : 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4,187,516 (Est. Dec 5</a:t>
            </a:r>
            <a:r>
              <a:rPr b="1" baseline="30000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th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End Block : 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4,338,715 (Est. Dec 19</a:t>
            </a:r>
            <a:r>
              <a:rPr b="1" baseline="30000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th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ebula" id="327" name="Google Shape;327;p14"/>
          <p:cNvPicPr preferRelativeResize="0"/>
          <p:nvPr/>
        </p:nvPicPr>
        <p:blipFill rotWithShape="1">
          <a:blip r:embed="rId3">
            <a:alphaModFix/>
          </a:blip>
          <a:srcRect b="2757" l="9813" r="8082" t="1227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4"/>
          <p:cNvSpPr/>
          <p:nvPr/>
        </p:nvSpPr>
        <p:spPr>
          <a:xfrm>
            <a:off x="0" y="0"/>
            <a:ext cx="12192002" cy="6858000"/>
          </a:xfrm>
          <a:prstGeom prst="rect">
            <a:avLst/>
          </a:prstGeom>
          <a:solidFill>
            <a:srgbClr val="A8D08C">
              <a:alpha val="1176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" name="Google Shape;329;p14"/>
          <p:cNvPicPr preferRelativeResize="0"/>
          <p:nvPr/>
        </p:nvPicPr>
        <p:blipFill rotWithShape="1">
          <a:blip r:embed="rId4">
            <a:alphaModFix/>
          </a:blip>
          <a:srcRect b="5555" l="41813" r="10750" t="6444"/>
          <a:stretch/>
        </p:blipFill>
        <p:spPr>
          <a:xfrm rot="-5400000">
            <a:off x="3386169" y="-2307996"/>
            <a:ext cx="6460603" cy="11473991"/>
          </a:xfrm>
          <a:prstGeom prst="rect">
            <a:avLst/>
          </a:prstGeom>
          <a:noFill/>
          <a:ln>
            <a:noFill/>
          </a:ln>
          <a:effectLst>
            <a:outerShdw blurRad="50800" sx="101000" rotWithShape="0" algn="t" dir="5400000" dist="38100" sy="101000">
              <a:srgbClr val="000000">
                <a:alpha val="47843"/>
              </a:srgbClr>
            </a:outerShdw>
          </a:effectLst>
        </p:spPr>
      </p:pic>
      <p:pic>
        <p:nvPicPr>
          <p:cNvPr id="330" name="Google Shape;330;p14"/>
          <p:cNvPicPr preferRelativeResize="0"/>
          <p:nvPr/>
        </p:nvPicPr>
        <p:blipFill rotWithShape="1">
          <a:blip r:embed="rId5">
            <a:alphaModFix/>
          </a:blip>
          <a:srcRect b="6948" l="78938" r="11250" t="73830"/>
          <a:stretch/>
        </p:blipFill>
        <p:spPr>
          <a:xfrm>
            <a:off x="10496158" y="5045227"/>
            <a:ext cx="1375560" cy="1515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14"/>
          <p:cNvPicPr preferRelativeResize="0"/>
          <p:nvPr/>
        </p:nvPicPr>
        <p:blipFill rotWithShape="1">
          <a:blip r:embed="rId5">
            <a:alphaModFix/>
          </a:blip>
          <a:srcRect b="6948" l="78938" r="11250" t="73830"/>
          <a:stretch/>
        </p:blipFill>
        <p:spPr>
          <a:xfrm rot="-5400000">
            <a:off x="10496158" y="226936"/>
            <a:ext cx="1375560" cy="151574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2" name="Google Shape;332;p14"/>
          <p:cNvGraphicFramePr/>
          <p:nvPr/>
        </p:nvGraphicFramePr>
        <p:xfrm>
          <a:off x="3122874" y="12863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{2A3C3C6E-FA49-44BE-9389-992C9AAB32B4}</a:tableStyleId>
              </a:tblPr>
              <a:tblGrid>
                <a:gridCol w="1190050"/>
                <a:gridCol w="1041950"/>
                <a:gridCol w="864000"/>
                <a:gridCol w="1332000"/>
                <a:gridCol w="1116000"/>
                <a:gridCol w="1116000"/>
                <a:gridCol w="1116000"/>
              </a:tblGrid>
              <a:tr h="506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No of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Players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Reward %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 Reward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No Staking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Level 02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Level 03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1-5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35,000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2,333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4,667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6-10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27,500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1,833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3,667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5,500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11-17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27,500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1,310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2,619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3,929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18-30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641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1,282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1,923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31-50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417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1,250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51-100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35,000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101-175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30,000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176-250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27,500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244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251-500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501-1000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7,500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345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Sum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1,000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250,000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3" name="Google Shape;333;p14"/>
          <p:cNvSpPr txBox="1"/>
          <p:nvPr/>
        </p:nvSpPr>
        <p:spPr>
          <a:xfrm>
            <a:off x="3064427" y="516908"/>
            <a:ext cx="721171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 Odin ] </a:t>
            </a:r>
            <a:r>
              <a:rPr b="0" i="0" lang="en-US" sz="28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Arena Championship </a:t>
            </a:r>
            <a:r>
              <a:rPr b="0" i="0" lang="en-US" sz="40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8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Rewards</a:t>
            </a:r>
            <a:endParaRPr b="0" i="0" sz="28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4" name="Google Shape;334;p14"/>
          <p:cNvPicPr preferRelativeResize="0"/>
          <p:nvPr/>
        </p:nvPicPr>
        <p:blipFill rotWithShape="1">
          <a:blip r:embed="rId6">
            <a:alphaModFix/>
          </a:blip>
          <a:srcRect b="8025" l="0" r="34658" t="-1"/>
          <a:stretch/>
        </p:blipFill>
        <p:spPr>
          <a:xfrm flipH="1">
            <a:off x="-1" y="106680"/>
            <a:ext cx="3369495" cy="6751320"/>
          </a:xfrm>
          <a:prstGeom prst="rect">
            <a:avLst/>
          </a:prstGeom>
          <a:noFill/>
          <a:ln>
            <a:noFill/>
          </a:ln>
          <a:effectLst>
            <a:outerShdw blurRad="457200" sx="109000" rotWithShape="0" algn="l" dist="38100" sy="109000">
              <a:srgbClr val="000000">
                <a:alpha val="43921"/>
              </a:srgbClr>
            </a:outerShdw>
          </a:effectLst>
        </p:spPr>
      </p:pic>
      <p:sp>
        <p:nvSpPr>
          <p:cNvPr id="335" name="Google Shape;335;p14"/>
          <p:cNvSpPr txBox="1"/>
          <p:nvPr/>
        </p:nvSpPr>
        <p:spPr>
          <a:xfrm>
            <a:off x="6705884" y="5362170"/>
            <a:ext cx="460664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You can buy up to 40 tickets during the entire Season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You can buy up to 8 extra tickets during each session</a:t>
            </a:r>
            <a:b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(each refresh, or about 16 hours).</a:t>
            </a:r>
            <a:endParaRPr/>
          </a:p>
        </p:txBody>
      </p:sp>
      <p:sp>
        <p:nvSpPr>
          <p:cNvPr id="336" name="Google Shape;336;p14"/>
          <p:cNvSpPr txBox="1"/>
          <p:nvPr/>
        </p:nvSpPr>
        <p:spPr>
          <a:xfrm>
            <a:off x="6705882" y="5023616"/>
            <a:ext cx="21911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Ticket</a:t>
            </a:r>
            <a:r>
              <a:rPr b="0" i="0" lang="en-US" sz="1600" u="none" cap="none" strike="noStrike">
                <a:solidFill>
                  <a:srgbClr val="B1DB9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 Information</a:t>
            </a:r>
            <a:endParaRPr b="0" i="0" sz="16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4"/>
          <p:cNvSpPr txBox="1"/>
          <p:nvPr/>
        </p:nvSpPr>
        <p:spPr>
          <a:xfrm>
            <a:off x="3064427" y="5023616"/>
            <a:ext cx="211743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Block</a:t>
            </a:r>
            <a:r>
              <a:rPr b="0" i="0" lang="en-US" sz="16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 Information</a:t>
            </a:r>
            <a:endParaRPr b="0" i="0" sz="16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4"/>
          <p:cNvSpPr txBox="1"/>
          <p:nvPr/>
        </p:nvSpPr>
        <p:spPr>
          <a:xfrm>
            <a:off x="3064427" y="5266758"/>
            <a:ext cx="3551526" cy="796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Start Block : 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12,038,501 (Est. Oct 6</a:t>
            </a:r>
            <a:r>
              <a:rPr b="1" baseline="30000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th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End Block : 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12,189,700 (Est. Oct 20</a:t>
            </a:r>
            <a:r>
              <a:rPr b="1" baseline="30000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th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ebula" id="343" name="Google Shape;343;p15"/>
          <p:cNvPicPr preferRelativeResize="0"/>
          <p:nvPr/>
        </p:nvPicPr>
        <p:blipFill rotWithShape="1">
          <a:blip r:embed="rId3">
            <a:alphaModFix/>
          </a:blip>
          <a:srcRect b="2757" l="9813" r="8082" t="1227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5"/>
          <p:cNvSpPr/>
          <p:nvPr/>
        </p:nvSpPr>
        <p:spPr>
          <a:xfrm>
            <a:off x="0" y="0"/>
            <a:ext cx="12192002" cy="6858000"/>
          </a:xfrm>
          <a:prstGeom prst="rect">
            <a:avLst/>
          </a:prstGeom>
          <a:solidFill>
            <a:srgbClr val="6E7EF2">
              <a:alpha val="3882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5" name="Google Shape;345;p15"/>
          <p:cNvPicPr preferRelativeResize="0"/>
          <p:nvPr/>
        </p:nvPicPr>
        <p:blipFill rotWithShape="1">
          <a:blip r:embed="rId4">
            <a:alphaModFix/>
          </a:blip>
          <a:srcRect b="5555" l="41813" r="10750" t="6444"/>
          <a:stretch/>
        </p:blipFill>
        <p:spPr>
          <a:xfrm rot="-5400000">
            <a:off x="3386169" y="-2307996"/>
            <a:ext cx="6460603" cy="11473991"/>
          </a:xfrm>
          <a:prstGeom prst="rect">
            <a:avLst/>
          </a:prstGeom>
          <a:noFill/>
          <a:ln>
            <a:noFill/>
          </a:ln>
          <a:effectLst>
            <a:outerShdw blurRad="50800" sx="101000" rotWithShape="0" algn="t" dir="5400000" dist="38100" sy="101000">
              <a:srgbClr val="000000">
                <a:alpha val="47843"/>
              </a:srgbClr>
            </a:outerShdw>
          </a:effectLst>
        </p:spPr>
      </p:pic>
      <p:pic>
        <p:nvPicPr>
          <p:cNvPr id="346" name="Google Shape;346;p15"/>
          <p:cNvPicPr preferRelativeResize="0"/>
          <p:nvPr/>
        </p:nvPicPr>
        <p:blipFill rotWithShape="1">
          <a:blip r:embed="rId5">
            <a:alphaModFix/>
          </a:blip>
          <a:srcRect b="6948" l="78938" r="11250" t="73830"/>
          <a:stretch/>
        </p:blipFill>
        <p:spPr>
          <a:xfrm>
            <a:off x="10496158" y="5045227"/>
            <a:ext cx="1375560" cy="1515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15"/>
          <p:cNvPicPr preferRelativeResize="0"/>
          <p:nvPr/>
        </p:nvPicPr>
        <p:blipFill rotWithShape="1">
          <a:blip r:embed="rId5">
            <a:alphaModFix/>
          </a:blip>
          <a:srcRect b="6948" l="78938" r="11250" t="73830"/>
          <a:stretch/>
        </p:blipFill>
        <p:spPr>
          <a:xfrm rot="-5400000">
            <a:off x="10496158" y="226936"/>
            <a:ext cx="1375560" cy="151574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8" name="Google Shape;348;p15"/>
          <p:cNvGraphicFramePr/>
          <p:nvPr/>
        </p:nvGraphicFramePr>
        <p:xfrm>
          <a:off x="3122874" y="12863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{2A3C3C6E-FA49-44BE-9389-992C9AAB32B4}</a:tableStyleId>
              </a:tblPr>
              <a:tblGrid>
                <a:gridCol w="1190050"/>
                <a:gridCol w="1041950"/>
                <a:gridCol w="864000"/>
                <a:gridCol w="1332000"/>
                <a:gridCol w="1116000"/>
                <a:gridCol w="1116000"/>
                <a:gridCol w="1116000"/>
              </a:tblGrid>
              <a:tr h="506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No of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Players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Reward %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 Reward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No Staking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Level 02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Level 03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1-5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56,000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3,733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7,467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11,200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6 – 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44,000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2,933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5,867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8,800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11 – 17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44,000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2,095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4,190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6,286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18 – 30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13 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40,000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1,026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2,051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3,077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31 – 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40,000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1,333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51 – 100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56,000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373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747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1,120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101 – 175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48,000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213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427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640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176 – 250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44,000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196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391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587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251 – 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16,000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D8D8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501 – 1000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   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>
                        <a:alpha val="62745"/>
                      </a:srgbClr>
                    </a:solidFill>
                  </a:tcPr>
                </a:tc>
              </a:tr>
              <a:tr h="345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Sum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100 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400,000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　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9" name="Google Shape;349;p15"/>
          <p:cNvSpPr txBox="1"/>
          <p:nvPr/>
        </p:nvSpPr>
        <p:spPr>
          <a:xfrm>
            <a:off x="3064427" y="516908"/>
            <a:ext cx="590687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 Thor ] </a:t>
            </a:r>
            <a:r>
              <a:rPr b="0" i="0" lang="en-US" sz="2800" u="none" cap="none" strike="noStrike">
                <a:solidFill>
                  <a:srgbClr val="8DA9DB"/>
                </a:solidFill>
                <a:latin typeface="Arial"/>
                <a:ea typeface="Arial"/>
                <a:cs typeface="Arial"/>
                <a:sym typeface="Arial"/>
              </a:rPr>
              <a:t>Arena Season </a:t>
            </a:r>
            <a:r>
              <a:rPr b="0" i="0" lang="en-US" sz="4000" u="none" cap="none" strike="noStrike">
                <a:solidFill>
                  <a:srgbClr val="8DA9DB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r>
              <a:rPr b="0" i="0" lang="en-US" sz="2800" u="none" cap="none" strike="noStrike">
                <a:solidFill>
                  <a:srgbClr val="8DA9D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Rewards</a:t>
            </a:r>
            <a:endParaRPr b="0" i="0" sz="28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0" name="Google Shape;350;p15"/>
          <p:cNvPicPr preferRelativeResize="0"/>
          <p:nvPr/>
        </p:nvPicPr>
        <p:blipFill rotWithShape="1">
          <a:blip r:embed="rId6">
            <a:alphaModFix/>
          </a:blip>
          <a:srcRect b="8025" l="0" r="34658" t="-1"/>
          <a:stretch/>
        </p:blipFill>
        <p:spPr>
          <a:xfrm flipH="1">
            <a:off x="-1" y="106680"/>
            <a:ext cx="3369495" cy="6751320"/>
          </a:xfrm>
          <a:prstGeom prst="rect">
            <a:avLst/>
          </a:prstGeom>
          <a:noFill/>
          <a:ln>
            <a:noFill/>
          </a:ln>
          <a:effectLst>
            <a:outerShdw blurRad="457200" sx="109000" rotWithShape="0" algn="l" dist="38100" sy="109000">
              <a:srgbClr val="000000">
                <a:alpha val="43921"/>
              </a:srgbClr>
            </a:outerShdw>
          </a:effectLst>
        </p:spPr>
      </p:pic>
      <p:sp>
        <p:nvSpPr>
          <p:cNvPr id="351" name="Google Shape;351;p15"/>
          <p:cNvSpPr txBox="1"/>
          <p:nvPr/>
        </p:nvSpPr>
        <p:spPr>
          <a:xfrm>
            <a:off x="6705884" y="5362170"/>
            <a:ext cx="460664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You can buy up to 40 tickets during the entire Season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You can buy up to 8 extra tickets during each session</a:t>
            </a:r>
            <a:b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(each refresh, or about 16 hours).</a:t>
            </a:r>
            <a:endParaRPr/>
          </a:p>
        </p:txBody>
      </p:sp>
      <p:sp>
        <p:nvSpPr>
          <p:cNvPr id="352" name="Google Shape;352;p15"/>
          <p:cNvSpPr txBox="1"/>
          <p:nvPr/>
        </p:nvSpPr>
        <p:spPr>
          <a:xfrm>
            <a:off x="6705882" y="5023616"/>
            <a:ext cx="21911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DA9DB"/>
                </a:solidFill>
                <a:latin typeface="Arial"/>
                <a:ea typeface="Arial"/>
                <a:cs typeface="Arial"/>
                <a:sym typeface="Arial"/>
              </a:rPr>
              <a:t>Ticket</a:t>
            </a:r>
            <a:r>
              <a:rPr b="0" i="0" lang="en-US" sz="1600" u="none" cap="none" strike="noStrike">
                <a:solidFill>
                  <a:srgbClr val="B1DB9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 Information</a:t>
            </a:r>
            <a:endParaRPr b="0" i="0" sz="16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5"/>
          <p:cNvSpPr txBox="1"/>
          <p:nvPr/>
        </p:nvSpPr>
        <p:spPr>
          <a:xfrm>
            <a:off x="3064427" y="5023616"/>
            <a:ext cx="211743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DA9DB"/>
                </a:solidFill>
                <a:latin typeface="Arial"/>
                <a:ea typeface="Arial"/>
                <a:cs typeface="Arial"/>
                <a:sym typeface="Arial"/>
              </a:rPr>
              <a:t>Block</a:t>
            </a:r>
            <a:r>
              <a:rPr b="0" i="0" lang="en-US" sz="16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 Information</a:t>
            </a:r>
            <a:endParaRPr b="0" i="0" sz="16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5"/>
          <p:cNvSpPr txBox="1"/>
          <p:nvPr/>
        </p:nvSpPr>
        <p:spPr>
          <a:xfrm>
            <a:off x="3064427" y="5266758"/>
            <a:ext cx="3551526" cy="796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Start Block : 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77,630 (Est. Dec 5</a:t>
            </a:r>
            <a:r>
              <a:rPr b="1" baseline="30000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th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End Block : 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228,829 (Est. Dec 19</a:t>
            </a:r>
            <a:r>
              <a:rPr b="1" baseline="30000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th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ebula" id="359" name="Google Shape;359;p16"/>
          <p:cNvPicPr preferRelativeResize="0"/>
          <p:nvPr/>
        </p:nvPicPr>
        <p:blipFill rotWithShape="1">
          <a:blip r:embed="rId3">
            <a:alphaModFix/>
          </a:blip>
          <a:srcRect b="2757" l="9813" r="8082" t="1227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6"/>
          <p:cNvSpPr/>
          <p:nvPr/>
        </p:nvSpPr>
        <p:spPr>
          <a:xfrm>
            <a:off x="0" y="0"/>
            <a:ext cx="12192002" cy="6858000"/>
          </a:xfrm>
          <a:prstGeom prst="rect">
            <a:avLst/>
          </a:prstGeom>
          <a:solidFill>
            <a:srgbClr val="A8D08C">
              <a:alpha val="1176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1" name="Google Shape;361;p16"/>
          <p:cNvPicPr preferRelativeResize="0"/>
          <p:nvPr/>
        </p:nvPicPr>
        <p:blipFill rotWithShape="1">
          <a:blip r:embed="rId4">
            <a:alphaModFix/>
          </a:blip>
          <a:srcRect b="5555" l="41813" r="10750" t="6444"/>
          <a:stretch/>
        </p:blipFill>
        <p:spPr>
          <a:xfrm rot="-5400000">
            <a:off x="3386169" y="-2307996"/>
            <a:ext cx="6460603" cy="11473991"/>
          </a:xfrm>
          <a:prstGeom prst="rect">
            <a:avLst/>
          </a:prstGeom>
          <a:noFill/>
          <a:ln>
            <a:noFill/>
          </a:ln>
          <a:effectLst>
            <a:outerShdw blurRad="50800" sx="101000" rotWithShape="0" algn="t" dir="5400000" dist="38100" sy="101000">
              <a:srgbClr val="000000">
                <a:alpha val="47843"/>
              </a:srgbClr>
            </a:outerShdw>
          </a:effectLst>
        </p:spPr>
      </p:pic>
      <p:pic>
        <p:nvPicPr>
          <p:cNvPr id="362" name="Google Shape;362;p16"/>
          <p:cNvPicPr preferRelativeResize="0"/>
          <p:nvPr/>
        </p:nvPicPr>
        <p:blipFill rotWithShape="1">
          <a:blip r:embed="rId5">
            <a:alphaModFix/>
          </a:blip>
          <a:srcRect b="6948" l="78938" r="11250" t="73830"/>
          <a:stretch/>
        </p:blipFill>
        <p:spPr>
          <a:xfrm>
            <a:off x="10496158" y="5045227"/>
            <a:ext cx="1375560" cy="1515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16"/>
          <p:cNvPicPr preferRelativeResize="0"/>
          <p:nvPr/>
        </p:nvPicPr>
        <p:blipFill rotWithShape="1">
          <a:blip r:embed="rId5">
            <a:alphaModFix/>
          </a:blip>
          <a:srcRect b="6948" l="78938" r="11250" t="73830"/>
          <a:stretch/>
        </p:blipFill>
        <p:spPr>
          <a:xfrm rot="-5400000">
            <a:off x="10496158" y="226936"/>
            <a:ext cx="1375560" cy="151574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4" name="Google Shape;364;p16"/>
          <p:cNvGraphicFramePr/>
          <p:nvPr/>
        </p:nvGraphicFramePr>
        <p:xfrm>
          <a:off x="3122874" y="12863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{2A3C3C6E-FA49-44BE-9389-992C9AAB32B4}</a:tableStyleId>
              </a:tblPr>
              <a:tblGrid>
                <a:gridCol w="1190050"/>
                <a:gridCol w="1041950"/>
                <a:gridCol w="864000"/>
                <a:gridCol w="1332000"/>
                <a:gridCol w="1116000"/>
                <a:gridCol w="1116000"/>
                <a:gridCol w="1116000"/>
              </a:tblGrid>
              <a:tr h="506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No of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Players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Reward %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 Reward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No Staking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Level 02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Level 03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1-5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35,000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2,333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4,667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6-10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27,500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1,833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3,667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5,500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11-17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27,500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1,310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2,619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3,929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18-30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641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1,282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1,923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31-50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417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1,250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51-100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35,000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101-175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30,000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176-250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27,500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244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251-500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501-1000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7,500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9D9D9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>
                        <a:alpha val="62745"/>
                      </a:srgbClr>
                    </a:solidFill>
                  </a:tcPr>
                </a:tc>
              </a:tr>
              <a:tr h="345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Sum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1,000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250,000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5" name="Google Shape;365;p16"/>
          <p:cNvSpPr txBox="1"/>
          <p:nvPr/>
        </p:nvSpPr>
        <p:spPr>
          <a:xfrm>
            <a:off x="3064427" y="516908"/>
            <a:ext cx="721171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 Odin ] </a:t>
            </a:r>
            <a:r>
              <a:rPr b="0" i="0" lang="en-US" sz="28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Arena Championship </a:t>
            </a:r>
            <a:r>
              <a:rPr b="0" i="0" lang="en-US" sz="40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8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Rewards</a:t>
            </a:r>
            <a:endParaRPr b="0" i="0" sz="28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6" name="Google Shape;366;p16"/>
          <p:cNvPicPr preferRelativeResize="0"/>
          <p:nvPr/>
        </p:nvPicPr>
        <p:blipFill rotWithShape="1">
          <a:blip r:embed="rId6">
            <a:alphaModFix/>
          </a:blip>
          <a:srcRect b="8025" l="0" r="34658" t="-1"/>
          <a:stretch/>
        </p:blipFill>
        <p:spPr>
          <a:xfrm flipH="1">
            <a:off x="-1" y="106680"/>
            <a:ext cx="3369495" cy="6751320"/>
          </a:xfrm>
          <a:prstGeom prst="rect">
            <a:avLst/>
          </a:prstGeom>
          <a:noFill/>
          <a:ln>
            <a:noFill/>
          </a:ln>
          <a:effectLst>
            <a:outerShdw blurRad="457200" sx="109000" rotWithShape="0" algn="l" dist="38100" sy="109000">
              <a:srgbClr val="000000">
                <a:alpha val="43921"/>
              </a:srgbClr>
            </a:outerShdw>
          </a:effectLst>
        </p:spPr>
      </p:pic>
      <p:sp>
        <p:nvSpPr>
          <p:cNvPr id="367" name="Google Shape;367;p16"/>
          <p:cNvSpPr txBox="1"/>
          <p:nvPr/>
        </p:nvSpPr>
        <p:spPr>
          <a:xfrm>
            <a:off x="6705884" y="5362170"/>
            <a:ext cx="460664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You can buy up to 40 tickets during the entire Season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You can buy up to 8 extra tickets during each session</a:t>
            </a:r>
            <a:b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1" i="0" lang="en-US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(each refresh, or about 16 hours).</a:t>
            </a:r>
            <a:endParaRPr/>
          </a:p>
        </p:txBody>
      </p:sp>
      <p:sp>
        <p:nvSpPr>
          <p:cNvPr id="368" name="Google Shape;368;p16"/>
          <p:cNvSpPr txBox="1"/>
          <p:nvPr/>
        </p:nvSpPr>
        <p:spPr>
          <a:xfrm>
            <a:off x="6705882" y="5023616"/>
            <a:ext cx="21911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Ticket</a:t>
            </a:r>
            <a:r>
              <a:rPr b="0" i="0" lang="en-US" sz="1600" u="none" cap="none" strike="noStrike">
                <a:solidFill>
                  <a:srgbClr val="B1DB9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 Information</a:t>
            </a:r>
            <a:endParaRPr b="0" i="0" sz="16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6"/>
          <p:cNvSpPr txBox="1"/>
          <p:nvPr/>
        </p:nvSpPr>
        <p:spPr>
          <a:xfrm>
            <a:off x="3064427" y="5023616"/>
            <a:ext cx="211743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Block</a:t>
            </a:r>
            <a:r>
              <a:rPr b="0" i="0" lang="en-US" sz="16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 Information</a:t>
            </a:r>
            <a:endParaRPr b="0" i="0" sz="16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6"/>
          <p:cNvSpPr txBox="1"/>
          <p:nvPr/>
        </p:nvSpPr>
        <p:spPr>
          <a:xfrm>
            <a:off x="3064427" y="5266758"/>
            <a:ext cx="3551526" cy="796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Start Block : 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12,038,501 (Est. Oct 6</a:t>
            </a:r>
            <a:r>
              <a:rPr b="1" baseline="30000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th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End Block : 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12,189,700 (Est. Oct 20</a:t>
            </a:r>
            <a:r>
              <a:rPr b="1" baseline="30000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th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ebula" id="375" name="Google Shape;375;p17"/>
          <p:cNvPicPr preferRelativeResize="0"/>
          <p:nvPr/>
        </p:nvPicPr>
        <p:blipFill rotWithShape="1">
          <a:blip r:embed="rId3">
            <a:alphaModFix/>
          </a:blip>
          <a:srcRect b="2757" l="9813" r="8082" t="1227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17"/>
          <p:cNvSpPr/>
          <p:nvPr/>
        </p:nvSpPr>
        <p:spPr>
          <a:xfrm>
            <a:off x="0" y="0"/>
            <a:ext cx="12192002" cy="6858000"/>
          </a:xfrm>
          <a:prstGeom prst="rect">
            <a:avLst/>
          </a:prstGeom>
          <a:solidFill>
            <a:srgbClr val="321E28">
              <a:alpha val="8078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7" name="Google Shape;377;p17"/>
          <p:cNvPicPr preferRelativeResize="0"/>
          <p:nvPr/>
        </p:nvPicPr>
        <p:blipFill rotWithShape="1">
          <a:blip r:embed="rId4">
            <a:alphaModFix/>
          </a:blip>
          <a:srcRect b="5555" l="41813" r="10750" t="6444"/>
          <a:stretch/>
        </p:blipFill>
        <p:spPr>
          <a:xfrm rot="-5400000">
            <a:off x="3386167" y="-2307996"/>
            <a:ext cx="6460603" cy="11473991"/>
          </a:xfrm>
          <a:prstGeom prst="rect">
            <a:avLst/>
          </a:prstGeom>
          <a:noFill/>
          <a:ln>
            <a:noFill/>
          </a:ln>
          <a:effectLst>
            <a:outerShdw blurRad="50800" sx="101000" rotWithShape="0" algn="t" dir="5400000" dist="38100" sy="101000">
              <a:srgbClr val="000000">
                <a:alpha val="47843"/>
              </a:srgbClr>
            </a:outerShdw>
          </a:effectLst>
        </p:spPr>
      </p:pic>
      <p:pic>
        <p:nvPicPr>
          <p:cNvPr id="378" name="Google Shape;378;p17"/>
          <p:cNvPicPr preferRelativeResize="0"/>
          <p:nvPr/>
        </p:nvPicPr>
        <p:blipFill rotWithShape="1">
          <a:blip r:embed="rId5">
            <a:alphaModFix/>
          </a:blip>
          <a:srcRect b="6948" l="78938" r="11250" t="73830"/>
          <a:stretch/>
        </p:blipFill>
        <p:spPr>
          <a:xfrm>
            <a:off x="10496158" y="5045227"/>
            <a:ext cx="1375560" cy="1515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17"/>
          <p:cNvPicPr preferRelativeResize="0"/>
          <p:nvPr/>
        </p:nvPicPr>
        <p:blipFill rotWithShape="1">
          <a:blip r:embed="rId5">
            <a:alphaModFix/>
          </a:blip>
          <a:srcRect b="6948" l="78938" r="11250" t="73830"/>
          <a:stretch/>
        </p:blipFill>
        <p:spPr>
          <a:xfrm rot="-5400000">
            <a:off x="10496156" y="226936"/>
            <a:ext cx="1375560" cy="1515744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7"/>
          <p:cNvSpPr txBox="1"/>
          <p:nvPr/>
        </p:nvSpPr>
        <p:spPr>
          <a:xfrm>
            <a:off x="3064427" y="549414"/>
            <a:ext cx="682699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 Odin ]</a:t>
            </a:r>
            <a:r>
              <a:rPr b="0" i="0" lang="en-US" sz="2800" u="none" cap="none" strike="noStrike">
                <a:solidFill>
                  <a:srgbClr val="B1DB94"/>
                </a:solidFill>
                <a:latin typeface="Arial"/>
                <a:ea typeface="Arial"/>
                <a:cs typeface="Arial"/>
                <a:sym typeface="Arial"/>
              </a:rPr>
              <a:t> Arena Championship </a:t>
            </a:r>
            <a:r>
              <a:rPr b="0" i="0" lang="en-US" sz="4000" u="none" cap="none" strike="noStrike">
                <a:solidFill>
                  <a:srgbClr val="B1DB94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n-US" sz="2800" u="none" cap="none" strike="noStrike">
                <a:solidFill>
                  <a:srgbClr val="B1DB9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Rewards</a:t>
            </a:r>
            <a:endParaRPr b="0" i="0" sz="28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1" name="Google Shape;381;p17"/>
          <p:cNvPicPr preferRelativeResize="0"/>
          <p:nvPr/>
        </p:nvPicPr>
        <p:blipFill rotWithShape="1">
          <a:blip r:embed="rId6">
            <a:alphaModFix/>
          </a:blip>
          <a:srcRect b="8025" l="0" r="34658" t="-1"/>
          <a:stretch/>
        </p:blipFill>
        <p:spPr>
          <a:xfrm flipH="1">
            <a:off x="-1" y="106680"/>
            <a:ext cx="3369495" cy="6751320"/>
          </a:xfrm>
          <a:prstGeom prst="rect">
            <a:avLst/>
          </a:prstGeom>
          <a:noFill/>
          <a:ln>
            <a:noFill/>
          </a:ln>
          <a:effectLst>
            <a:outerShdw blurRad="457200" sx="109000" rotWithShape="0" algn="l" dist="38100" sy="109000">
              <a:srgbClr val="000000">
                <a:alpha val="43921"/>
              </a:srgbClr>
            </a:outerShdw>
          </a:effectLst>
        </p:spPr>
      </p:pic>
      <p:sp>
        <p:nvSpPr>
          <p:cNvPr id="382" name="Google Shape;382;p17"/>
          <p:cNvSpPr txBox="1"/>
          <p:nvPr/>
        </p:nvSpPr>
        <p:spPr>
          <a:xfrm>
            <a:off x="3064427" y="5023616"/>
            <a:ext cx="211743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B1DB94"/>
                </a:solidFill>
                <a:latin typeface="Arial"/>
                <a:ea typeface="Arial"/>
                <a:cs typeface="Arial"/>
                <a:sym typeface="Arial"/>
              </a:rPr>
              <a:t>Block</a:t>
            </a:r>
            <a:r>
              <a:rPr b="0" i="0" lang="en-US" sz="16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 Information</a:t>
            </a:r>
            <a:endParaRPr b="0" i="0" sz="16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7"/>
          <p:cNvSpPr txBox="1"/>
          <p:nvPr/>
        </p:nvSpPr>
        <p:spPr>
          <a:xfrm>
            <a:off x="6705882" y="5362170"/>
            <a:ext cx="4606642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You can buy up to 40 tickets during the entire Season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You can buy up to 8 extra tickets during each session</a:t>
            </a:r>
            <a:br>
              <a:rPr b="0" i="0" lang="en-US" sz="14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0" i="0" lang="en-US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(each refresh, or about 16 hours)</a:t>
            </a:r>
            <a:endParaRPr b="0" i="0" sz="14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84" name="Google Shape;384;p17"/>
          <p:cNvSpPr txBox="1"/>
          <p:nvPr/>
        </p:nvSpPr>
        <p:spPr>
          <a:xfrm>
            <a:off x="6705882" y="5023616"/>
            <a:ext cx="21911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B1DB94"/>
                </a:solidFill>
                <a:latin typeface="Arial"/>
                <a:ea typeface="Arial"/>
                <a:cs typeface="Arial"/>
                <a:sym typeface="Arial"/>
              </a:rPr>
              <a:t>Ticket </a:t>
            </a:r>
            <a:r>
              <a:rPr b="0" i="0" lang="en-US" sz="1600" u="none" cap="none" strike="noStrike">
                <a:solidFill>
                  <a:srgbClr val="D6A959"/>
                </a:solidFill>
                <a:latin typeface="Arial"/>
                <a:ea typeface="Arial"/>
                <a:cs typeface="Arial"/>
                <a:sym typeface="Arial"/>
              </a:rPr>
              <a:t> Information</a:t>
            </a:r>
            <a:endParaRPr b="0" i="0" sz="1600" u="none" cap="none" strike="noStrike">
              <a:solidFill>
                <a:srgbClr val="D6A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7"/>
          <p:cNvSpPr txBox="1"/>
          <p:nvPr/>
        </p:nvSpPr>
        <p:spPr>
          <a:xfrm>
            <a:off x="3051936" y="5279250"/>
            <a:ext cx="3676443" cy="796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Start Block : 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11,131,301 (Est. July 11</a:t>
            </a:r>
            <a:r>
              <a:rPr b="1" baseline="30000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th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End Block : 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11,282,500 (Est. July 23</a:t>
            </a:r>
            <a:r>
              <a:rPr b="1" baseline="30000" i="0" lang="en-US" sz="11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rd</a:t>
            </a:r>
            <a:r>
              <a:rPr b="1" i="0" lang="en-US" sz="1600" u="none" cap="none" strike="noStrike">
                <a:solidFill>
                  <a:srgbClr val="D6A959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  <a:endParaRPr/>
          </a:p>
        </p:txBody>
      </p:sp>
      <p:graphicFrame>
        <p:nvGraphicFramePr>
          <p:cNvPr id="386" name="Google Shape;386;p17"/>
          <p:cNvGraphicFramePr/>
          <p:nvPr/>
        </p:nvGraphicFramePr>
        <p:xfrm>
          <a:off x="3122874" y="12863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{2A3C3C6E-FA49-44BE-9389-992C9AAB32B4}</a:tableStyleId>
              </a:tblPr>
              <a:tblGrid>
                <a:gridCol w="1393500"/>
                <a:gridCol w="838500"/>
                <a:gridCol w="832475"/>
                <a:gridCol w="1363525"/>
                <a:gridCol w="1116000"/>
                <a:gridCol w="1116000"/>
                <a:gridCol w="1116000"/>
              </a:tblGrid>
              <a:tr h="633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No of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Players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Reward %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Group Reward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4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No Staking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Level 02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Staking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Level 03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1-5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35,000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2,333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4,667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6-10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27,500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1,833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3,667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5,500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11-17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27,500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1,310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2,619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3,929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18-30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641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1,282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1,923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31-50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417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1,250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51-100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35,000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101-175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30,000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133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176-250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27,500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122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244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367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251-500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10,000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Rank 501-1000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7,500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980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A959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1E28">
                        <a:alpha val="89803"/>
                      </a:srgbClr>
                    </a:solidFill>
                  </a:tcPr>
                </a:tc>
              </a:tr>
              <a:tr h="345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Sum</a:t>
                      </a:r>
                      <a:endParaRPr/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1,000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250,000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A9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300" marB="5300" marR="7975" marL="7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A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2022-09-06T02:19:47Z</dcterms:created>
  <dc:creator>Victor</dc:creator>
</cp:coreProperties>
</file>